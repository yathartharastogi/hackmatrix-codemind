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816" y="1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0:12:11.414"/>
    </inkml:context>
    <inkml:brush xml:id="br0">
      <inkml:brushProperty name="width" value="0.1" units="cm"/>
      <inkml:brushProperty name="height" value="0.1" units="cm"/>
      <inkml:brushProperty name="color" value="#171717"/>
    </inkml:brush>
  </inkml:definitions>
  <inkml:trace contextRef="#ctx0" brushRef="#br0">1 452 6553,'28'0'669,"1"-1"0,-1-1-1,0-2 1,0-1-1,41-12 1,305-117-1543,-172 59 383,-83 34 1083,3 5 0,0 6-1,163-18 1,-51 5 895,-201 37-1071,1 1 0,0 2 0,56 1 1,-66 3-347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0:12:15.781"/>
    </inkml:context>
    <inkml:brush xml:id="br0">
      <inkml:brushProperty name="width" value="0.35" units="cm"/>
      <inkml:brushProperty name="height" value="0.35" units="cm"/>
      <inkml:brushProperty name="color" value="#171717"/>
    </inkml:brush>
  </inkml:definitions>
  <inkml:trace contextRef="#ctx0" brushRef="#br0">0 1 4915,'0'0'0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0:12:21.038"/>
    </inkml:context>
    <inkml:brush xml:id="br0">
      <inkml:brushProperty name="width" value="0.35" units="cm"/>
      <inkml:brushProperty name="height" value="0.35" units="cm"/>
      <inkml:brushProperty name="color" value="#171717"/>
    </inkml:brush>
  </inkml:definitions>
  <inkml:trace contextRef="#ctx0" brushRef="#br0">1146 857 4915,'0'-22'0,"0"0"0,1 1 0,2-1 0,0 1 0,1-1 0,1 1 0,2 0 0,13-32 0,-4 22 0,1 1 0,2 1 0,1 1 0,1 1 0,1 0 0,2 2 0,0 0 0,30-22 0,34-19 0,112-66 0,-146 99 0,89-62 30,-135 90 5,-6 4-10,1 0 0,-1 0 0,0-1 0,0 1 0,0-1 0,0 0 0,0 1 0,0-1 0,0 0 0,0 0 0,-1 0 1,3-4-1,-4 5-15,0 1 1,0 0 0,0 0 0,0-1 0,0 1 0,-1 0 0,1-1 0,0 1 0,0 0 0,0 0 0,0-1 0,0 1 0,-1 0 0,1 0 0,0 0 0,0-1 0,0 1 0,-1 0 0,1 0 0,0 0 0,0 0 0,-1-1 0,1 1 0,0 0 0,0 0-1,-1 0 1,1 0 0,0 0 0,0 0 0,-1 0 0,1 0 0,0 0 0,-1 0 0,1 0 0,0 0 0,0 0 0,-1 0 0,1 0 0,0 0 0,-1 0 0,1 0 0,-14 1 376,0 1 1,0 0-1,0 1 1,-25 8 0,22-6-138,-393 145 4373,246-86-3092,-613 213 3856,622-223-4878,154-54-506,-201 77 544,192-73-485,0 1-1,0 0 1,1 1 0,-1 0 0,-11 11 0,18-15-37,1 0-1,0 1 1,0-1 0,0 1-1,0-1 1,0 1-1,0 0 1,1 0 0,-1-1-1,1 1 1,0 0 0,0 0-1,0 1 1,0-1 0,1 0-1,-1 0 1,1 0 0,0 0-1,0 1 1,0-1 0,1 5-1,-1-6 6,1 0 0,-1 0 0,1 0 0,0 0 0,-1 0-1,1 0 1,0 0 0,0-1 0,0 1 0,1 0 0,-1-1 0,0 1 0,1-1-1,-1 1 1,1-1 0,-1 0 0,1 0 0,-1 1 0,1-1 0,0 0 0,3 1-1,3 1 105,-1-1 0,1 0 0,0 0 0,10 1 0,56 3-68,116-4 0,-126-3-55,-61 1-11,110-1-22,158-21 1,-254 20-74,-1-1-1,0 0 1,1-2-1,-2 1 1,1-2-1,0 0 1,20-12-1,-35 17 95,0 1 0,0-1 0,0 1 0,0-1 0,0 0 0,-1 1 0,1-1 0,0 0 0,0 0 0,0 0 0,-1 0 0,1 0 0,-1 0 0,1 0-1,-1 0 1,1 0 0,-1 0 0,1 0 0,-1-1 0,0 2 2,0-1-1,0 1 1,0 0-1,0 0 1,0 0-1,0-1 1,0 1-1,0 0 1,0 0-1,-1-1 1,1 1-1,0 0 0,0 0 1,0 0-1,0-1 1,-1 1-1,1 0 1,0 0-1,0 0 1,0 0-1,-1 0 1,1-1-1,0 1 1,0 0-1,0 0 1,-1 0-1,1 0 1,0 0-1,-1 0 1,-13 1 12,1 3 1,1 1 1,-1 1-1,1 0 0,-19 13 0,21-13-7,-94 59 56,-97 80 1,187-133-52,-20 20 1,33-31-21,-1 1 0,1-1 1,0 1-1,-1 0 1,1-1-1,0 1 0,0 0 1,0-1-1,1 1 0,-1 0 1,-1 4-1,2-6 0,0 0 0,0 0 0,0 1 0,0-1 0,0 0 0,1 0 0,-1 0 0,0 1 0,0-1 0,0 0 0,0 0 0,0 0 0,0 0 0,0 1 0,1-1 0,-1 0 0,0 0 0,0 0 0,0 0 0,0 0 0,1 1 0,-1-1 0,0 0 0,0 0 1,0 0-1,1 0 0,-1 0 0,0 0 0,0 0 0,1 0 0,-1 0 0,0 0 0,1 0 0,16-3-501,27-13-454,71-37-1,-48 19 432,-22 13 236,246-128-1123,-279 142 1360,24-16-129,-33 21 145,0-1 1,-1 1-1,1-1 0,0 1 1,-1-1-1,0 0 0,1 0 1,1-4-1,-4 7 32,1-1 0,-1 0 0,0 1 1,1-1-1,-1 0 0,0 0 0,0 1 0,0-1 0,0 0 0,0 0 0,0 1 0,0-1 0,0 0 1,0 0-1,0 1 0,0-1 0,0 0 0,0 1 0,0-1 0,-1 0 0,1 0 0,0 1 0,-1-1 1,1 0-1,-1 1 0,1-1 0,0 1 0,-1-1 0,1 1 0,-1-1 0,0 1 0,1-1 1,-1 1-1,1-1 0,-2 0 0,-1-1 37,-1 0 0,0 1-1,0-1 1,0 1 0,-6-2 0,-26-4 195,1 2 1,-1 1-1,-65 2 0,54 2-102,-538 4 1177,609-6-1002,0-2-1,44-13 0,-44 11-319,124-37-1508,-3-7-1,261-128 0,-280 108 927,141-105 1,-435 293 2057,-146 108-45,90-61-828,211-155-526,8-7-8,0 0 1,0 0 0,0 1 0,0 0 0,1 0-1,0 0 1,0 0 0,0 1 0,-4 6-1,8-11-41,0 0-1,0 0 0,0 1 0,0-1 0,0 0 0,0 0 0,0 0 0,0 1 0,-1-1 0,1 0 0,0 0 0,0 0 0,0 1 1,0-1-1,1 0 0,-1 0 0,0 0 0,0 1 0,0-1 0,0 0 0,0 0 0,0 0 0,0 1 0,0-1 0,0 0 0,0 0 0,1 0 1,-1 0-1,0 1 0,0-1 0,0 0 0,0 0 0,0 0 0,1 0 0,-1 0 0,0 0 0,0 1 0,0-1 0,1 0 0,-1 0 1,0 0-1,0 0 0,0 0 0,1 0 0,-1 0 0,0 0 0,0 0 0,0 0 0,1 0 0,-1 0 0,0 0 0,0 0 0,0 0 1,1 0-1,-1 0 0,0 0 0,0 0 0,0 0 0,1-1 0,-1 1 0,0 0 0,0 0 0,0 0 0,12-3-192,0 0 0,-1-1 0,0-1 0,1 0 0,10-6 0,6-3-104,418-201-2609,-154 65 1655,-186 93 1086,-100 54 174,32-15 94,-37 17-90,1 1-1,-1-1 0,1 1 1,-1-1-1,0 1 0,1 0 1,-1 0-1,1-1 0,0 1 1,-1 0-1,1 0 0,-1 1 1,1-1-1,-1 0 0,1 0 1,-1 1-1,0-1 0,1 1 1,-1-1-1,2 2 0,-2-1 8,0 0-1,0 0 1,-1 0-1,1 0 0,-1 0 1,1 0-1,-1 0 1,1 0-1,-1 0 0,0 1 1,1-1-1,-1 0 1,0 0-1,0 0 0,0 1 1,0-1-1,0 0 1,0 0-1,0 0 0,0 1 1,-1 1-1,-4 13 138,0 0-1,-1-1 0,0 1 0,-1-1 0,-1-1 1,-13 20-1,-20 27 174,-2-2 1,-3-2 0,-3-2 0,-1-3-1,-3-1 1,-86 62 0,101-88-42,30-22-131,8-4-160,0 1 0,0 0 0,0 0 1,-1 0-1,1 0 0,0 0 1,0 0-1,0 0 0,0 0 0,0 0 1,0 0-1,0-1 0,0 1 1,0 0-1,0 0 0,0 0 0,0 0 1,0 0-1,0 0 0,0 0 1,0 0-1,0-1 0,0 1 1,0 0-1,0 0 0,0 0 0,0 0 1,0 0-1,0 0 0,0 0 1,0-1-1,0 1 0,0 0 0,0 0 1,0 0-1,0 0 0,0 0 1,0 0-1,1 0 0,-1 0 0,0 0 1,0 0-1,0 0 0,0-1 1,0 1-1,0 0 0,9-10-207,-1 0 1,2 0-1,-1 1 0,1 0 0,16-11 0,-3 2-61,70-53-205,2 5 0,4 4 0,2 4 0,2 5 0,3 5 0,1 4 0,144-38 0,-242 79 499,2 0 13,1-1 0,0 2 0,0 0 0,0 0 0,14 0 0,-24 2-21,0 1 0,-1-1 0,1 0-1,0 1 1,0 0 0,0-1 0,-1 1 0,1 0-1,0 0 1,-1-1 0,1 1 0,0 1 0,-1-1-1,1 0 1,-1 0 0,0 1 0,1-1 0,-1 0-1,0 1 1,0-1 0,0 1 0,0 0 0,0-1-1,0 1 1,-1 0 0,1 0 0,0-1 0,-1 1-1,0 0 1,1 0 0,-1 0 0,0 2 0,1 5 77,0 1 1,-1-1-1,-1 1 1,1-1-1,-4 12 1,-2 5 117,-1 0 1,-1 0 0,-1-1 0,-2 0 0,0-1-1,-2 0 1,-1-1 0,-23 31 0,-4-3 276,-1-2 0,-65 58 0,56-61-204,-59 40-1,104-81-266,-5 3 76,-22 11 1,31-17-81,0-1 0,-1 0 0,1 0 1,0-1-1,0 1 0,-1 0 0,1-1 1,0 1-1,-1-1 0,1 0 0,-1 0 0,1 0 1,0 0-1,-1 0 0,1 0 0,-4-2 1,5 2-29,0-1 1,0 1-1,0-1 0,0 0 1,0 1-1,0-1 1,0 0-1,1 0 1,-1 1-1,0-1 1,1 0-1,-1 0 1,0 0-1,1 0 1,-1 0-1,1 0 0,-1 0 1,1 0-1,0 0 1,0 0-1,-1 0 1,1-1-1,0 1 1,0 0-1,0 0 1,0 0-1,0 0 1,0 0-1,1-2 0,0-3-72,0 0 0,0 0-1,1 0 1,4-9-1,6-10-164,1 0-1,2 0 0,0 2 1,21-25-1,80-85-632,-101 117 802,27-30-174,2 1 0,55-42 0,-92 82 216,0 0-1,0 0 0,1 1 0,10-5 0,-17 8 49,0 1-1,0-1 0,1 1 0,-1-1 1,0 1-1,0 0 0,0 0 0,1-1 1,-1 1-1,0 0 0,0 0 1,1 0-1,-1 0 0,0 0 0,0 0 1,0 1-1,1-1 0,-1 0 1,0 1-1,0-1 0,0 1 0,0-1 1,1 1-1,-1-1 0,0 1 0,0 0 1,0-1-1,0 1 0,0 0 1,-1 0-1,1 0 0,0 0 0,0 0 1,-1 0-1,1 0 0,0 0 1,0 2-1,1 1 22,-1 1 0,0-1 0,0 1 1,-1-1-1,1 1 0,-1-1 0,0 1 1,0 0-1,-1-1 0,1 1 0,-2 5 0,-3 7 72,-9 25-1,14-40-95,-15 37 88,-12 37 107,27-75-189,-1 0 0,1 0 0,-1 1 0,1-1 0,0 0 0,0 1-1,-1-1 1,1 1 0,0-1 0,0 0 0,1 1 0,-1-1 0,0 0 0,0 1 0,1-1 0,-1 0 0,0 1 0,1-1 0,0 0 0,-1 0 0,1 1 0,1 1 0,-1-3 2,1 1 0,-1 0 0,1-1 0,-1 1 0,1-1 0,-1 1 1,1-1-1,-1 0 0,1 1 0,-1-1 0,1 0 0,0 0 1,-1 0-1,1 0 0,-1-1 0,1 1 0,0 0 0,-1-1 1,1 1-1,1-1 0,40-14-527,82-39 0,-49 19 236,-25 13 157,-6 1 170,69-20 0,-26 11 347,-83 29-381,-3 0-3,0 0 0,0 0 0,0 1 0,0-1 0,0 1 0,1-1 0,-1 1 0,0 0 0,0 0 0,0 0 0,0 0 0,1 0 0,-1 1 0,0-1 0,0 1 0,0-1 0,0 1 0,0 0 0,3 1 0,-3 0 1,0-1 0,-1 0 0,0 1 1,1-1-1,-1 1 0,0 0 0,0-1 0,0 1 0,0 0 1,0 0-1,0-1 0,0 1 0,-1 0 0,1 0 1,-1 0-1,1 0 0,-1 0 0,0 0 0,0 0 0,0 0 1,0 4-1,-1 3 38,0-1 1,0 1-1,-1 0 1,0 0-1,0-1 1,-1 1-1,-1-1 1,-3 8-1,-6 8 127,-22 29-1,12-19-26,16-23-42,0 2 0,-8 24 0,-3 4 78,18-40-180,0-1 1,0 1 0,-1-1 0,1 1-1,0-1 1,-1 1 0,1-1 0,0 1-1,-1-1 1,1 0 0,0 1 0,-1-1-1,1 1 1,-1-1 0,1 0 0,-1 1-1,1-1 1,-1 0 0,0 1 0,1-1-7,-1-1 0,1 1 1,0 0-1,-1 0 0,1 0 1,0 0-1,-1 0 0,1 0 1,0-1-1,0 1 0,-1 0 1,1 0-1,0 0 0,0-1 1,-1 1-1,1 0 0,0 0 1,0-1-1,-1 1 0,1 0 1,0 0-1,0-1 0,0 1 1,-9-25-183,9 23 140,-61-297-1721,53 235 1449,-23-129-360,30 192 670,-1-8-23,0 0 0,-8-17 0,9 23 36,0 1 1,0 0-1,-1-1 0,1 1 0,-1 0 1,0 0-1,1 0 0,-1 0 1,0 0-1,0 0 0,0 1 0,-1-1 1,1 1-1,0-1 0,-3 0 0,-4-1 55,0 1-1,0 1 1,0-1-1,0 2 0,0-1 1,0 1-1,-17 2 0,12-1 29,-19 2 170,-1 1-1,1 2 0,-61 19 0,-91 47 478,142-51-543,1 1-1,1 2 1,1 1 0,2 3 0,-38 33 0,62-48-120,0 1 0,1 0 0,1 1 0,-19 28 0,26-36-34,1 1 0,0 0 0,1 0 0,0 0 0,0 0 0,0 0 0,1 1 0,1-1 0,-1 1 0,1-1 0,1 1 0,0 15 0,1-21-22,-1 1 0,1-1 0,0 0 0,0 0 1,0 0-1,0 0 0,0 0 0,0-1 0,1 1 1,0 0-1,-1-1 0,1 1 0,0-1 0,0 1 1,1-1-1,-1 0 0,0 0 0,1 0 0,-1 0 0,1 0 1,0 0-1,0-1 0,-1 0 0,1 1 0,0-1 1,0 0-1,0 0 0,5 0 0,6 2 81,1-1 0,0-1-1,-1 0 1,26-3 0,-8 1-12,0-2 0,-1-1 1,1-2-1,-1-1 0,0-2 0,42-17 1,-63 21-171,0 0 1,11-8 0,-18 11 59,0 0 0,-1 0 0,1 0 0,-1-1 1,0 1-1,0 0 0,0-1 0,0 0 0,0 1 0,0-1 0,-1 0 1,2-3-1,-3 5 20,1 0 1,-1 0 0,0 0 0,0 1-1,0-1 1,0 0 0,0 0-1,0 1 1,0-1 0,0 0 0,0 0-1,0 0 1,0 1 0,-1-1-1,1 0 1,0 0 0,-1 1 0,1-1-1,0 0 1,-1 1 0,1-1-1,-1 0 1,1 1 0,-1-1 0,1 1-1,-1-1 1,-20-12 111,8 8-68,1 0 0,-1 1 0,0 1 0,0 0-1,-21-1 1,-72 0 137,103 4-175,-64 2 171,0 3 0,-127 26-1,100-7-14,-128 48 0,187-59-104,-43 24 0,69-32-49,0 0 1,0 1-1,1 0 1,-1 0-1,1 1 0,1 0 1,-1 1-1,1 0 1,-8 11-1,14-16-6,-1-1 1,1 0 0,0 0-1,0 0 1,0 1-1,0-1 1,0 0-1,1 1 1,-1-1-1,1 1 1,-1-1-1,1 1 1,0-1 0,0 4-1,0-5 2,1 1 0,-1-1-1,1 1 1,0-1 0,-1 1-1,1-1 1,0 1 0,0-1 0,0 0-1,0 1 1,0-1 0,0 0-1,0 0 1,1 0 0,-1 0 0,0 0-1,0 0 1,1 0 0,-1 0-1,1-1 1,-1 1 0,1 0 0,1 0-1,13 3 42,1 1-1,-1-2 1,1-1-1,0 0 0,-1-1 1,29-1-1,-13 0 17,251-12 383,-236 6-627,0-3 0,0-1 0,-1-2 0,44-19 1,-65 22 38,0-2 1,-1 0 0,0-2 0,-1-1 0,-1-1 0,27-22 0,-47 36 133,-1-1 0,1 1-1,-1 0 1,0-1 0,0 1 0,1-1 0,-1 0 0,0 1 0,0-1 0,0 0 0,-1 0 0,1 0 0,0 1 0,0-5 0,-1 5 12,0 0 0,0-1-1,0 1 1,-1 0 0,1-1 0,0 1 0,-1 0 0,1 0-1,-1-1 1,0 1 0,1 0 0,-1 0 0,0 0 0,0 0 0,1 0-1,-1 0 1,0 0 0,0 0 0,0 0 0,0 0 0,0 0-1,-2 0 1,-2-2 8,1 0 0,-1 1 0,0-1 0,0 1 0,0 1 0,0-1-1,0 1 1,0-1 0,0 1 0,-7 0 0,-5 0 48,-32 2 0,25 2-21,0 1 1,1 1 0,-1 0-1,1 2 1,0 1-1,0 1 1,-35 19 0,21-7 4,0 2 1,1 2-1,-44 40 0,71-57-34,1-1-1,-1 1 0,2 1 1,-1-1-1,1 1 0,-10 17 1,16-25-7,1 0 0,-1 1 1,1-1-1,-1 0 0,1 1 1,-1-1-1,1 0 0,0 1 1,0-1-1,0 1 0,-1-1 1,2 0-1,-1 1 0,0-1 1,0 1-1,0-1 0,1 0 0,-1 1 1,0-1-1,1 0 0,-1 1 1,1-1-1,0 0 0,-1 0 1,3 2-1,-2-1 1,0-1 0,1 0 0,-1 0 1,1 0-1,-1 0 0,1 0 0,0 0 0,-1-1 1,1 1-1,0 0 0,-1-1 0,1 1 0,0-1 0,0 0 1,0 0-1,0 0 0,-1 0 0,1 0 0,3 0 1,4-2-31,1 0 0,-1 0 1,1-1-1,-1-1 1,0 1-1,0-2 1,-1 1-1,14-10 1,-1 0-180,0-2 0,20-20 0,-28 23 90,-1 0 0,0 0-1,-1-2 1,-1 1 0,0-1 0,-1-1 0,-1 0 0,0 0 0,-1-1 0,5-20-1,-5 14-141,12-27 0,-15 42 150,0 0 0,0 0 0,1 1 0,0-1 0,1 1 0,10-11 0,72-55-923,-55 47 576,50-50 0,-75 66 370,0 0-1,0 0 1,0 0 0,-1-1 0,-1 0 0,0 0 0,-1-1 0,0 0 0,7-23-1,-10 24-66,0-1 0,-1 0-1,0-23 1,-3 75 757,1 50-236,5-47-145,19 85 0,-21-120-203,0 0 1,1 0-1,0 0 0,0 0 1,5 8-1,-6-13-11,0-1 0,0 1 0,0-1 0,0 1 1,0-1-1,0 0 0,0 0 0,1 0 0,-1 0 0,1 0 0,-1-1 0,1 1 0,0-1 0,0 0 0,0 1 0,4 0 0,12 1 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0:12:25.262"/>
    </inkml:context>
    <inkml:brush xml:id="br0">
      <inkml:brushProperty name="width" value="0.35" units="cm"/>
      <inkml:brushProperty name="height" value="0.35" units="cm"/>
      <inkml:brushProperty name="color" value="#171717"/>
    </inkml:brush>
  </inkml:definitions>
  <inkml:trace contextRef="#ctx0" brushRef="#br0">0 1 4915,'5'0'180,"0"4"0,5 2 1,3-1-1,1 0-180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0:19:04.849"/>
    </inkml:context>
    <inkml:brush xml:id="br0">
      <inkml:brushProperty name="width" value="0.35" units="cm"/>
      <inkml:brushProperty name="height" value="0.35" units="cm"/>
      <inkml:brushProperty name="color" value="#171717"/>
    </inkml:brush>
  </inkml:definitions>
  <inkml:trace contextRef="#ctx0" brushRef="#br0">2862 20 4915,'1'70'1030,"-2"74"-78,-1-133-809,1-1-1,-1 0 0,-1 0 0,0 0 0,0 0 0,-9 15 0,-35 52 625,32-53-353,-21 38 0,-61 132 1523,91-183-1811,-2 0-1,1 0 1,-1-1-1,0 0 1,-1 0-1,-1-1 1,1 0-1,-1 0 1,-1-1-1,-14 8 1,17-12-28,0-1 0,-1-1 1,1 1-1,0-1 0,-1-1 1,0 0-1,1 0 0,-1 0 1,0-1-1,-11-2 0,48-10 530,-2 2-311,36-20 1,-51 23-368,0 0-1,0-1 1,-1 0 0,0-1 0,12-13 0,114-140-939,-126 148 904,0 0 0,-1-1 0,0 0 1,-1 0-1,-1-1 0,0 0 0,-1 0 1,-1-1-1,0 0 0,-2 0 0,4-30 0,-5-25-197,-2 49 98,1-1 0,7-38 0,6-28-240,-14 85 390,1 1 1,0 0-1,1 0 0,-1 0 0,4-6 0,-5 9 38,0 1-1,0-1 0,0 0 0,1 1 0,-1-1 1,0 1-1,1-1 0,-1 1 0,0-1 0,1 1 0,-1-1 1,1 1-1,-1-1 0,0 1 0,1 0 0,-1-1 1,1 1-1,0 0 0,-1-1 0,1 1 0,-1 0 1,1 0-1,-1 0 0,1-1 0,0 1 0,-1 0 0,1 0 1,-1 0-1,1 0 0,0 0 0,-1 0 0,1 0 1,0 0-1,-1 0 0,1 0 0,-1 1 0,1-1 0,0 0 1,-1 0-1,1 1 0,-1-1 0,1 0 0,-1 0 1,1 1-1,-1-1 0,1 1 0,-1-1 0,1 1 1,3 4 48,0 0 0,-1-1 0,0 2 1,0-1-1,0 0 0,0 0 0,-1 1 1,2 7-1,9 18 197,-6-17-156,0 0 0,-1 0 0,-1 0 0,0 1 0,-1 0 1,-1 0-1,0 0 0,-1 0 0,0 28 0,-4 310 1576,1-332-1491,-2-1 1,-6 32 0,4-26-36,5-25-134,0 0 0,0 0 0,-1-1-1,1 1 1,0 0 0,0 0 0,0 0 0,-1 0 0,1-1 0,0 1 0,-1 0 0,1 0 0,-1-1 0,1 1 0,-1 0 0,1-1 0,-1 1 0,0 0 0,0-1-12,1 0 0,-1 0 0,1 0 1,-1 0-1,1 0 0,0 0 0,-1 0 1,1 0-1,-1 0 0,1 0 0,0-1 1,-1 1-1,1 0 0,0 0 0,-1 0 1,1-1-1,0 1 0,-1 0 0,1-1 1,0 1-1,0 0 0,-1-1 0,1 1 1,0 0-1,-1-1 0,-3-6-82,1 1 0,-6-14 0,8 18 87,-12-27-9,-23-35 1,21 37-163,4 8-81,-14-20-1,9 15 86,-17-33 0,9 14-19,22 40 204,0 1-1,0-1 1,0 0-1,-1 1 1,1 0-1,-1-1 1,1 1 0,-1 0-1,0 0 1,0 1-1,0-1 1,0 1-1,0-1 1,-1 1-1,1 0 1,0 0-1,0 0 1,-5 0 0,-6-1 91,0 1 1,-1 1-1,-14 1 1,5 0-10,-63-1 259,-188 8 642,243-5-823,-1 2-1,1 1 0,0 1 1,0 2-1,-59 25 0,19 0 416,-115 73-1,-25 19 5,195-115-272,21-12-152,32-18 7,43-27-1121,380-220-1540,-430 250 2366,-12 7-5,0 0 0,0-1 0,0-1 0,-2-1 0,21-18 0,-35 28 86,1 1 1,-1-1 0,1 0-1,-1 0 1,0 0-1,0 0 1,0 0 0,0 0-1,1-3 1,-2 4 33,0 0 1,0 0-1,0 1 1,0-1-1,0 0 1,0 0-1,0 0 1,0 1-1,0-1 1,0 0-1,-1 0 1,1 0-1,0 1 0,-1-1 1,1 0-1,0 1 1,-1-1-1,1 0 1,-1 1-1,1-1 1,-1 0-1,1 1 1,-1-1-1,0 1 1,1-1-1,-1 1 0,0-1 1,1 1-1,-2-1 1,-3-1 59,-1-1 0,1 1 0,-1 0 0,1 1 0,-1 0 0,-8-2 0,-41-1 272,38 4-240,-176-5 1011,-267 29 1,169 20-392,222-28-546,0 3-1,-72 31 1,138-49-162,-37 18 105,38-18-101,0 1 0,0-1 0,0 0 0,0 1 0,0 0 0,0-1 0,1 1 0,-1 0 0,0 0 0,1 0 0,0 0 0,-1 0 0,1 0 0,-1 5 0,1-7-4,1 1 1,0 0 0,0-1 0,0 1 0,0 0 0,0 0-1,0-1 1,0 1 0,0 0 0,0-1 0,0 1-1,0 0 1,0-1 0,1 1 0,-1 0 0,0-1 0,1 1-1,-1 0 1,0-1 0,1 1 0,-1-1 0,0 1 0,1-1-1,-1 1 1,1-1 0,0 2 0,1-1 21,1 1 0,-1-1 0,0 0 0,1 0 0,-1 0 0,5 1 0,13 3 95,-1-1 1,1-1-1,0-1 1,21 0 0,86-5 334,-116 2-411,14 0 15,134-10 273,-121 6-238,0-1 1,42-12-1,-73 16-119,0 0 0,0 0 0,-1-1 0,1 0 0,-1 0 0,0 0 0,10-7 0,-16 9 22,0 1 1,1 0-1,-1 0 1,0 0-1,0 0 1,0-1-1,1 1 1,-1 0-1,0 0 1,0 0-1,0-1 1,0 1-1,0 0 1,0 0-1,1-1 1,-1 1-1,0 0 1,0 0-1,0-1 1,0 1-1,0 0 1,0 0-1,0-1 1,0 1-1,0 0 1,0 0-1,0-1 1,0 1-1,0 0 1,0-1-1,-1 1 1,1 0-1,0 0 1,0 0-1,0-1 1,0 1-1,0 0 1,0 0-1,-1-1 1,1 1-1,0 0 1,0 0-1,0 0 1,-1 0-1,1-1 1,0 1-1,0 0 1,-1 0-1,1 0 1,0 0-1,0 0 1,-1 0-1,-8-3 10,1 0 0,-1 1 1,0 0-1,0 1 0,0 0 0,-18 0 0,10 1-1,-324-4 129,266 4-118,73 0-19,-184 7 38,158-4-32,1 1 0,0 1-1,1 1 1,-47 18 0,52-15 4,21-9-10,-1 0-1,1 0 1,0 0-1,0 0 0,0 0 1,0 1-1,0-1 0,0 0 1,-1 0-1,1 0 0,0 0 1,0 0-1,0 0 0,0 0 1,0 0-1,-1 0 1,1 0-1,0 0 0,0 0 1,0 0-1,0 0 0,0 0 1,-1 0-1,1-1 0,0 1 1,0 0-1,0 0 1,0 0-1,0 0 0,0 0 1,-1 0-1,1 0 0,0 0 1,0 0-1,0-1 0,0 1 1,0 0-1,0 0 0,0 0 1,0 0-1,0 0 1,0 0-1,-1-1 0,1 1 1,0 0-1,0 0 0,0 0 1,0 0-1,0 0 0,0-1 1,0 1-1,0 0 1,0 0-1,0 0 0,0 0 1,0 0-1,0-1 0,0 1 1,1 0-1,-1 0 0,0 0 1,0 0-1,0 0 0,0 0 1,0-1-1,0 1 1,4-11-81,1-1 0,0 1 0,11-16 0,5-12-218,-12 23 149,-1-2 1,-1 1-1,-1-1 0,0 0 1,5-33-1,-11 49 137,1-1 0,-1 1 0,0-1 0,0 1 0,-1-1 0,1 1 0,0-1 0,-1 1 0,1-1 0,-1 1 0,0 0-1,0-1 1,0 1 0,0 0 0,0 0 0,-1 0 0,1 0 0,-1 0 0,1 0 0,-1 0 0,0 0 0,1 0 0,-1 1 0,0-1 0,0 1 0,0-1 0,-1 1 0,1 0 0,0 0 0,0 0 0,-1 0 0,-2-1 0,-3 0 34,0 1 1,-1 0-1,1 0 1,0 0-1,0 1 1,-1 1-1,1-1 1,-15 4-1,-2 2 15,0 1-1,0 2 1,0 0-1,1 2 1,-25 14-1,-110 77 125,108-68-104,12-9-35,22-15-9,0 1 0,1 1 0,0 0-1,-24 25 1,37-33-7,-1 0 1,1 1-1,0-1 1,0 1-1,1 0 1,-1 0-1,1 0 0,0 1 1,1-1-1,-1 0 1,-1 10-1,3-12-1,0-1 1,0 1-1,0-1 0,0 1 1,0 0-1,0-1 0,1 1 0,-1-1 1,1 1-1,0-1 0,-1 1 1,1-1-1,0 0 0,1 1 0,-1-1 1,0 0-1,1 0 0,-1 0 0,1 0 1,0 0-1,-1 0 0,1 0 1,0-1-1,0 1 0,0-1 0,0 1 1,3 0-1,5 3 22,0-1 0,1 0-1,-1-1 1,1 0 0,20 2 0,58 0 107,-62-4-88,512 0 524,-347-4-467,-156 3-88,-7 1 2,1-2-1,-1-1 0,35-7 1,-60 9-13,-1-1 0,0 0 0,1 0 0,-1-1 0,0 1 0,4-3 0,-7 4-3,0 0 0,1 0 1,-1 0-1,0 0 0,0-1 0,1 1 0,-1 0 0,0 0 0,0 0 1,0-1-1,1 1 0,-1 0 0,0 0 0,0-1 0,0 1 1,0 0-1,0 0 0,0-1 0,0 1 0,1 0 0,-1-1 0,0 1 1,0 0-1,0 0 0,0-1 0,0 1 0,0 0 0,0-1 1,-1 1-1,1-1 3,-1 0 0,1 0 1,-1 1-1,0-1 0,1 0 1,-1 1-1,0-1 0,0 1 1,1-1-1,-1 1 0,0-1 1,0 1-1,0-1 0,-1 1 1,-12-6 28,-1 1 0,1 1 0,-1 1 1,-20-3-1,-66 0-11,100 6-22,-77 0 0,-1 4 0,0 3 0,1 3 0,-141 39 0,214-48 0,-49 16 0,49-15 0,0 0 0,0 1 0,0-1 0,1 1 0,-1 0 0,1 0 0,-6 5 0,9-8 0,1 1 0,0-1 0,-1 0 0,1 1 0,-1-1 0,1 1 0,-1-1 0,1 0 0,0 1 0,-1-1 0,1 1 0,0-1 0,0 1 0,-1-1 0,1 1 0,0-1 0,0 1 0,0-1 0,-1 1 0,1 0 0,0-1 0,0 1 0,0-1 0,0 1 0,0-1 0,0 1 0,0-1 0,0 1 0,1 0 0,-1-1 0,0 1 0,0-1 0,0 1 0,1-1 0,-1 1 0,0-1 0,0 1 0,1-1 0,-1 1 0,0-1 0,1 0 0,-1 1 0,1-1 0,-1 1 0,1-1 0,0 1 0,2 1 0,0-1 0,1 1 0,0-1 0,-1 1 0,8 1 0,27 3 0,0 0 0,1-3 0,61-1 0,-51-2 0,331-1 0,-325-1-30,84-14 0,-114 11-103,1-1 0,-1-1 0,0-1 0,-1-2 0,33-16 0,-52 23 95,0 0 1,-1 0-1,1 0 0,-1 0 0,0-1 1,0 0-1,0 0 0,0 0 0,-1 0 1,6-8-1,-9 10 12,1 0 0,0 0 0,0 1 1,0-1-1,-1 0 0,1 0 0,-1 0 0,0 0 0,0 0 1,1 0-1,-1 0 0,0 0 0,-1 0 0,1 0 1,0 0-1,-1 0 0,1 0 0,-1 0 0,1 0 1,-1 0-1,0 0 0,0 0 0,0 1 0,0-1 1,0 0-1,0 1 0,0-1 0,-1 1 0,1-1 1,-1 1-1,-1-2 0,-1 0 27,-1 0 0,1 0 0,-1 0 1,0 0-1,0 1 0,0 0 0,0 0 0,0 0 1,-1 1-1,1-1 0,0 1 0,-1 1 0,-5-1 0,4 0 8,-1 1 0,1 0-1,0 1 1,-1 0 0,1 0-1,0 0 1,0 1 0,-14 5-1,20-7-5,1 0-1,-1 1 1,0-1 0,1 0-1,-1 0 1,1 1-1,-1-1 1,1 1-1,-1-1 1,0 0 0,1 1-1,0-1 1,-1 1-1,1 0 1,-1-1-1,1 1 1,-1-1 0,1 1-1,0 0 1,0 0-1,0-1 0,0 1 0,0-1 0,0 1 1,1-1-1,-1 1 0,0-1 0,0 1 0,1-1 0,-1 0 1,1 1-1,-1-1 0,0 1 0,1-1 0,-1 0 1,1 0-1,-1 1 0,0-1 0,1 0 0,-1 1 0,1-1 1,-1 0-1,1 0 0,-1 0 0,1 0 0,-1 0 0,2 1 1,17 3 36,1 0 1,-1-1-1,1-1 1,33-1 0,-24-1-3,208 2 61,-204-2-94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7235F-7F67-4DD5-95F8-3EA435A99F3E}" type="datetimeFigureOut">
              <a:rPr lang="en-IN" smtClean="0"/>
              <a:t>03-04-2026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526BF-FB16-4607-BA88-5FDB8A17EF61}" type="slidenum">
              <a:rPr lang="en-IN" smtClean="0"/>
              <a:t>‹#›</a:t>
            </a:fld>
            <a:endParaRPr lang="en-IN"/>
          </a:p>
        </p:txBody>
      </p:sp>
    </p:spTree>
    <p:extLst>
      <p:ext uri="{BB962C8B-B14F-4D97-AF65-F5344CB8AC3E}">
        <p14:creationId xmlns:p14="http://schemas.microsoft.com/office/powerpoint/2010/main" val="1229230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F526BF-FB16-4607-BA88-5FDB8A17EF61}" type="slidenum">
              <a:rPr lang="en-IN" smtClean="0"/>
              <a:t>7</a:t>
            </a:fld>
            <a:endParaRPr lang="en-IN"/>
          </a:p>
        </p:txBody>
      </p:sp>
    </p:spTree>
    <p:extLst>
      <p:ext uri="{BB962C8B-B14F-4D97-AF65-F5344CB8AC3E}">
        <p14:creationId xmlns:p14="http://schemas.microsoft.com/office/powerpoint/2010/main" val="2866540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9.png"/><Relationship Id="rId3" Type="http://schemas.openxmlformats.org/officeDocument/2006/relationships/image" Target="../media/image2.jpeg"/><Relationship Id="rId7" Type="http://schemas.openxmlformats.org/officeDocument/2006/relationships/image" Target="../media/image6.png"/><Relationship Id="rId12" Type="http://schemas.openxmlformats.org/officeDocument/2006/relationships/customXml" Target="../ink/ink4.xm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customXml" Target="../ink/ink3.xml"/><Relationship Id="rId4" Type="http://schemas.openxmlformats.org/officeDocument/2006/relationships/image" Target="../media/image3.jpe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customXml" Target="../ink/ink5.xml"/><Relationship Id="rId5" Type="http://schemas.openxmlformats.org/officeDocument/2006/relationships/image" Target="../media/image10.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9313" b="-69313"/>
            </a:stretch>
          </a:blipFill>
        </p:spPr>
      </p:sp>
      <p:grpSp>
        <p:nvGrpSpPr>
          <p:cNvPr id="3" name="Group 3"/>
          <p:cNvGrpSpPr/>
          <p:nvPr/>
        </p:nvGrpSpPr>
        <p:grpSpPr>
          <a:xfrm>
            <a:off x="1153933" y="2694198"/>
            <a:ext cx="16230600" cy="149974"/>
            <a:chOff x="0" y="0"/>
            <a:chExt cx="4052983" cy="37450"/>
          </a:xfrm>
        </p:grpSpPr>
        <p:sp>
          <p:nvSpPr>
            <p:cNvPr id="4" name="Freeform 4"/>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5" name="TextBox 5"/>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7" name="Freeform 7"/>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
        <p:nvSpPr>
          <p:cNvPr id="8" name="TextBox 8"/>
          <p:cNvSpPr txBox="1"/>
          <p:nvPr/>
        </p:nvSpPr>
        <p:spPr>
          <a:xfrm>
            <a:off x="4173024" y="365758"/>
            <a:ext cx="10395942" cy="1116334"/>
          </a:xfrm>
          <a:prstGeom prst="rect">
            <a:avLst/>
          </a:prstGeom>
        </p:spPr>
        <p:txBody>
          <a:bodyPr lIns="0" tIns="0" rIns="0" bIns="0" rtlCol="0" anchor="t">
            <a:spAutoFit/>
          </a:bodyPr>
          <a:lstStyle/>
          <a:p>
            <a:pPr algn="ctr">
              <a:lnSpc>
                <a:spcPts val="9059"/>
              </a:lnSpc>
              <a:spcBef>
                <a:spcPct val="0"/>
              </a:spcBef>
            </a:pPr>
            <a:r>
              <a:rPr lang="en-US" sz="5999" b="1" spc="-215">
                <a:solidFill>
                  <a:srgbClr val="FFFFFF"/>
                </a:solidFill>
                <a:latin typeface="Times New Roman Bold"/>
                <a:ea typeface="Times New Roman Bold"/>
                <a:cs typeface="Times New Roman Bold"/>
                <a:sym typeface="Times New Roman Bold"/>
              </a:rPr>
              <a:t>HACK MATRIX HACKATHON </a:t>
            </a:r>
          </a:p>
        </p:txBody>
      </p:sp>
      <p:sp>
        <p:nvSpPr>
          <p:cNvPr id="9" name="TextBox 9"/>
          <p:cNvSpPr txBox="1"/>
          <p:nvPr/>
        </p:nvSpPr>
        <p:spPr>
          <a:xfrm>
            <a:off x="7216726" y="1687516"/>
            <a:ext cx="4107766" cy="801886"/>
          </a:xfrm>
          <a:prstGeom prst="rect">
            <a:avLst/>
          </a:prstGeom>
        </p:spPr>
        <p:txBody>
          <a:bodyPr wrap="square" lIns="0" tIns="0" rIns="0" bIns="0" rtlCol="0" anchor="t">
            <a:spAutoFit/>
          </a:bodyPr>
          <a:lstStyle/>
          <a:p>
            <a:pPr algn="ctr">
              <a:lnSpc>
                <a:spcPts val="6945"/>
              </a:lnSpc>
              <a:spcBef>
                <a:spcPct val="0"/>
              </a:spcBef>
            </a:pPr>
            <a:r>
              <a:rPr lang="en-US" sz="4599" b="1" spc="-165" dirty="0">
                <a:solidFill>
                  <a:srgbClr val="FFFFFF"/>
                </a:solidFill>
                <a:latin typeface="Times New Roman Bold"/>
                <a:ea typeface="Times New Roman Bold"/>
                <a:cs typeface="Times New Roman Bold"/>
                <a:sym typeface="Times New Roman Bold"/>
              </a:rPr>
              <a:t>Problem- HM10</a:t>
            </a:r>
          </a:p>
        </p:txBody>
      </p:sp>
      <p:sp>
        <p:nvSpPr>
          <p:cNvPr id="10" name="TextBox 10"/>
          <p:cNvSpPr txBox="1"/>
          <p:nvPr/>
        </p:nvSpPr>
        <p:spPr>
          <a:xfrm>
            <a:off x="368211" y="3563917"/>
            <a:ext cx="17802044" cy="557845"/>
          </a:xfrm>
          <a:prstGeom prst="rect">
            <a:avLst/>
          </a:prstGeom>
        </p:spPr>
        <p:txBody>
          <a:bodyPr wrap="square" lIns="0" tIns="0" rIns="0" bIns="0" rtlCol="0" anchor="t">
            <a:spAutoFit/>
          </a:bodyPr>
          <a:lstStyle/>
          <a:p>
            <a:pPr marL="690874" lvl="1" indent="-345437">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PROJECT TITLE :  </a:t>
            </a:r>
            <a:r>
              <a:rPr lang="en-US" sz="3200" dirty="0" err="1">
                <a:solidFill>
                  <a:schemeClr val="bg1"/>
                </a:solidFill>
                <a:latin typeface="Times New Roman Bold" panose="02020803070505020304" pitchFamily="18" charset="0"/>
                <a:cs typeface="Times New Roman Bold" panose="02020803070505020304" pitchFamily="18" charset="0"/>
              </a:rPr>
              <a:t>CodeMind</a:t>
            </a:r>
            <a:r>
              <a:rPr lang="en-US" sz="3200" dirty="0">
                <a:solidFill>
                  <a:schemeClr val="bg1"/>
                </a:solidFill>
                <a:latin typeface="Times New Roman Bold" panose="02020803070505020304" pitchFamily="18" charset="0"/>
                <a:cs typeface="Times New Roman Bold" panose="02020803070505020304" pitchFamily="18" charset="0"/>
              </a:rPr>
              <a:t>– Intelligent Debugging Copilot with Thinking Pattern Detection</a:t>
            </a:r>
            <a:r>
              <a:rPr lang="en-US" sz="3199" b="1" spc="-115" dirty="0">
                <a:solidFill>
                  <a:schemeClr val="bg1"/>
                </a:solidFill>
                <a:latin typeface="Times New Roman Bold" panose="02020803070505020304" pitchFamily="18" charset="0"/>
                <a:ea typeface="Times New Roman Bold"/>
                <a:cs typeface="Times New Roman Bold" panose="02020803070505020304" pitchFamily="18" charset="0"/>
                <a:sym typeface="Times New Roman Bold"/>
              </a:rPr>
              <a:t> </a:t>
            </a:r>
          </a:p>
        </p:txBody>
      </p:sp>
      <p:sp>
        <p:nvSpPr>
          <p:cNvPr id="11" name="TextBox 11"/>
          <p:cNvSpPr txBox="1"/>
          <p:nvPr/>
        </p:nvSpPr>
        <p:spPr>
          <a:xfrm>
            <a:off x="368211" y="4638094"/>
            <a:ext cx="7974380" cy="557845"/>
          </a:xfrm>
          <a:prstGeom prst="rect">
            <a:avLst/>
          </a:prstGeom>
        </p:spPr>
        <p:txBody>
          <a:bodyPr wrap="square" lIns="0" tIns="0" rIns="0" bIns="0" rtlCol="0" anchor="t">
            <a:spAutoFit/>
          </a:bodyPr>
          <a:lstStyle/>
          <a:p>
            <a:pPr marL="690874" lvl="1" indent="-345437" algn="l">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TEAM NAME : Ctrl Alt Elite </a:t>
            </a:r>
          </a:p>
        </p:txBody>
      </p:sp>
      <p:sp>
        <p:nvSpPr>
          <p:cNvPr id="12" name="TextBox 12"/>
          <p:cNvSpPr txBox="1"/>
          <p:nvPr/>
        </p:nvSpPr>
        <p:spPr>
          <a:xfrm>
            <a:off x="368210" y="5631785"/>
            <a:ext cx="12356477" cy="557845"/>
          </a:xfrm>
          <a:prstGeom prst="rect">
            <a:avLst/>
          </a:prstGeom>
        </p:spPr>
        <p:txBody>
          <a:bodyPr wrap="square" lIns="0" tIns="0" rIns="0" bIns="0" rtlCol="0" anchor="t">
            <a:spAutoFit/>
          </a:bodyPr>
          <a:lstStyle/>
          <a:p>
            <a:pPr marL="690874" lvl="1" indent="-345437" algn="l">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TEAM MEMBERS :  </a:t>
            </a:r>
          </a:p>
        </p:txBody>
      </p:sp>
      <p:sp>
        <p:nvSpPr>
          <p:cNvPr id="13" name="TextBox 12">
            <a:extLst>
              <a:ext uri="{FF2B5EF4-FFF2-40B4-BE49-F238E27FC236}">
                <a16:creationId xmlns:a16="http://schemas.microsoft.com/office/drawing/2014/main" id="{77843B4A-06AB-DA3A-931C-DAD74CDBE091}"/>
              </a:ext>
            </a:extLst>
          </p:cNvPr>
          <p:cNvSpPr txBox="1"/>
          <p:nvPr/>
        </p:nvSpPr>
        <p:spPr>
          <a:xfrm>
            <a:off x="4596955" y="5631785"/>
            <a:ext cx="7974379" cy="2404504"/>
          </a:xfrm>
          <a:prstGeom prst="rect">
            <a:avLst/>
          </a:prstGeom>
        </p:spPr>
        <p:txBody>
          <a:bodyPr wrap="square" lIns="0" tIns="0" rIns="0" bIns="0" rtlCol="0" anchor="t">
            <a:spAutoFit/>
          </a:bodyPr>
          <a:lstStyle/>
          <a:p>
            <a:pPr marL="859787" lvl="1" indent="-514350" algn="l">
              <a:lnSpc>
                <a:spcPts val="4831"/>
              </a:lnSpc>
              <a:spcBef>
                <a:spcPct val="0"/>
              </a:spcBef>
              <a:buFont typeface="+mj-lt"/>
              <a:buAutoNum type="arabicPeriod"/>
            </a:pPr>
            <a:r>
              <a:rPr lang="en-US" sz="3199" b="1" spc="-115" dirty="0">
                <a:solidFill>
                  <a:srgbClr val="FFFFFF"/>
                </a:solidFill>
                <a:latin typeface="Times New Roman Bold"/>
                <a:ea typeface="Times New Roman Bold"/>
                <a:cs typeface="Times New Roman Bold"/>
                <a:sym typeface="Times New Roman Bold"/>
              </a:rPr>
              <a:t>Yathartha Rastogi (24BCE10410)</a:t>
            </a:r>
          </a:p>
          <a:p>
            <a:pPr marL="859787" lvl="1" indent="-514350" algn="l">
              <a:lnSpc>
                <a:spcPts val="4831"/>
              </a:lnSpc>
              <a:spcBef>
                <a:spcPct val="0"/>
              </a:spcBef>
              <a:buFont typeface="+mj-lt"/>
              <a:buAutoNum type="arabicPeriod"/>
            </a:pPr>
            <a:r>
              <a:rPr lang="en-US" sz="3199" b="1" spc="-115" dirty="0">
                <a:solidFill>
                  <a:srgbClr val="FFFFFF"/>
                </a:solidFill>
                <a:latin typeface="Times New Roman Bold"/>
                <a:ea typeface="Times New Roman Bold"/>
                <a:cs typeface="Times New Roman Bold"/>
                <a:sym typeface="Times New Roman Bold"/>
              </a:rPr>
              <a:t>Harsh (24BSA10054)</a:t>
            </a:r>
          </a:p>
          <a:p>
            <a:pPr marL="859787" lvl="1" indent="-514350" algn="l">
              <a:lnSpc>
                <a:spcPts val="4831"/>
              </a:lnSpc>
              <a:spcBef>
                <a:spcPct val="0"/>
              </a:spcBef>
              <a:buFont typeface="+mj-lt"/>
              <a:buAutoNum type="arabicPeriod"/>
            </a:pPr>
            <a:r>
              <a:rPr lang="en-US" sz="3199" b="1" spc="-115" dirty="0">
                <a:solidFill>
                  <a:srgbClr val="FFFFFF"/>
                </a:solidFill>
                <a:latin typeface="Times New Roman Bold"/>
                <a:ea typeface="Times New Roman Bold"/>
                <a:cs typeface="Times New Roman Bold"/>
                <a:sym typeface="Times New Roman Bold"/>
              </a:rPr>
              <a:t>Roshan </a:t>
            </a:r>
            <a:r>
              <a:rPr lang="en-US" sz="3199" b="1" spc="-115" dirty="0" err="1">
                <a:solidFill>
                  <a:srgbClr val="FFFFFF"/>
                </a:solidFill>
                <a:latin typeface="Times New Roman Bold"/>
                <a:ea typeface="Times New Roman Bold"/>
                <a:cs typeface="Times New Roman Bold"/>
                <a:sym typeface="Times New Roman Bold"/>
              </a:rPr>
              <a:t>Gayakawad</a:t>
            </a:r>
            <a:r>
              <a:rPr lang="en-US" sz="3199" b="1" spc="-115" dirty="0">
                <a:solidFill>
                  <a:srgbClr val="FFFFFF"/>
                </a:solidFill>
                <a:latin typeface="Times New Roman Bold"/>
                <a:ea typeface="Times New Roman Bold"/>
                <a:cs typeface="Times New Roman Bold"/>
                <a:sym typeface="Times New Roman Bold"/>
              </a:rPr>
              <a:t> (24BCG10086)</a:t>
            </a:r>
          </a:p>
          <a:p>
            <a:pPr marL="859787" lvl="1" indent="-514350" algn="l">
              <a:lnSpc>
                <a:spcPts val="4831"/>
              </a:lnSpc>
              <a:spcBef>
                <a:spcPct val="0"/>
              </a:spcBef>
              <a:buFont typeface="+mj-lt"/>
              <a:buAutoNum type="arabicPeriod"/>
            </a:pPr>
            <a:r>
              <a:rPr lang="en-US" sz="3199" b="1" spc="-115" dirty="0">
                <a:solidFill>
                  <a:srgbClr val="FFFFFF"/>
                </a:solidFill>
                <a:latin typeface="Times New Roman Bold"/>
                <a:ea typeface="Times New Roman Bold"/>
                <a:cs typeface="Times New Roman Bold"/>
                <a:sym typeface="Times New Roman Bold"/>
              </a:rPr>
              <a:t>Shaili </a:t>
            </a:r>
            <a:r>
              <a:rPr lang="en-US" sz="3199" b="1" spc="-115" dirty="0" err="1">
                <a:solidFill>
                  <a:srgbClr val="FFFFFF"/>
                </a:solidFill>
                <a:latin typeface="Times New Roman Bold"/>
                <a:ea typeface="Times New Roman Bold"/>
                <a:cs typeface="Times New Roman Bold"/>
                <a:sym typeface="Times New Roman Bold"/>
              </a:rPr>
              <a:t>Berchha</a:t>
            </a:r>
            <a:r>
              <a:rPr lang="en-US" sz="3199" b="1" spc="-115" dirty="0">
                <a:solidFill>
                  <a:srgbClr val="FFFFFF"/>
                </a:solidFill>
                <a:latin typeface="Times New Roman Bold"/>
                <a:ea typeface="Times New Roman Bold"/>
                <a:cs typeface="Times New Roman Bold"/>
                <a:sym typeface="Times New Roman Bold"/>
              </a:rPr>
              <a:t>(24BAC10064)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5560326" y="575308"/>
            <a:ext cx="7622885" cy="823559"/>
          </a:xfrm>
          <a:prstGeom prst="rect">
            <a:avLst/>
          </a:prstGeom>
        </p:spPr>
        <p:txBody>
          <a:bodyPr wrap="square" lIns="0" tIns="0" rIns="0" bIns="0" rtlCol="0" anchor="t">
            <a:spAutoFit/>
          </a:bodyPr>
          <a:lstStyle/>
          <a:p>
            <a:pPr algn="ctr">
              <a:lnSpc>
                <a:spcPts val="6999"/>
              </a:lnSpc>
              <a:spcBef>
                <a:spcPct val="0"/>
              </a:spcBef>
            </a:pPr>
            <a:r>
              <a:rPr lang="en-US" sz="4999" b="1" spc="-399" dirty="0">
                <a:solidFill>
                  <a:srgbClr val="FFFFFF"/>
                </a:solidFill>
                <a:latin typeface="Times New Roman Bold"/>
                <a:ea typeface="Times New Roman Bold"/>
                <a:cs typeface="Times New Roman Bold"/>
                <a:sym typeface="Times New Roman Bold"/>
              </a:rPr>
              <a:t>PROBLEM   STATEMENT</a:t>
            </a:r>
          </a:p>
        </p:txBody>
      </p:sp>
      <p:sp>
        <p:nvSpPr>
          <p:cNvPr id="4" name="TextBox 4"/>
          <p:cNvSpPr txBox="1"/>
          <p:nvPr/>
        </p:nvSpPr>
        <p:spPr>
          <a:xfrm>
            <a:off x="1078781" y="2206566"/>
            <a:ext cx="5291138" cy="563809"/>
          </a:xfrm>
          <a:prstGeom prst="rect">
            <a:avLst/>
          </a:prstGeom>
        </p:spPr>
        <p:txBody>
          <a:bodyPr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The problem </a:t>
            </a:r>
          </a:p>
        </p:txBody>
      </p:sp>
      <p:sp>
        <p:nvSpPr>
          <p:cNvPr id="5" name="TextBox 5"/>
          <p:cNvSpPr txBox="1"/>
          <p:nvPr/>
        </p:nvSpPr>
        <p:spPr>
          <a:xfrm>
            <a:off x="1028700" y="5395994"/>
            <a:ext cx="6330423"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Who is affected by this problem .</a:t>
            </a:r>
          </a:p>
        </p:txBody>
      </p:sp>
      <p:sp>
        <p:nvSpPr>
          <p:cNvPr id="6" name="TextBox 6"/>
          <p:cNvSpPr txBox="1"/>
          <p:nvPr/>
        </p:nvSpPr>
        <p:spPr>
          <a:xfrm>
            <a:off x="8387823" y="5395993"/>
            <a:ext cx="5933020"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Why this problem is important ?</a:t>
            </a:r>
          </a:p>
        </p:txBody>
      </p:sp>
      <p:grpSp>
        <p:nvGrpSpPr>
          <p:cNvPr id="7" name="Group 7"/>
          <p:cNvGrpSpPr/>
          <p:nvPr/>
        </p:nvGrpSpPr>
        <p:grpSpPr>
          <a:xfrm>
            <a:off x="1028700" y="1755661"/>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812308" y="40887"/>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dirty="0"/>
          </a:p>
        </p:txBody>
      </p:sp>
      <p:sp>
        <p:nvSpPr>
          <p:cNvPr id="12" name="TextBox 4">
            <a:extLst>
              <a:ext uri="{FF2B5EF4-FFF2-40B4-BE49-F238E27FC236}">
                <a16:creationId xmlns:a16="http://schemas.microsoft.com/office/drawing/2014/main" id="{48DDA461-29D9-4A66-2B5F-06F9C4BAE99B}"/>
              </a:ext>
            </a:extLst>
          </p:cNvPr>
          <p:cNvSpPr txBox="1"/>
          <p:nvPr/>
        </p:nvSpPr>
        <p:spPr>
          <a:xfrm>
            <a:off x="1912728" y="2806006"/>
            <a:ext cx="16059078" cy="1173398"/>
          </a:xfrm>
          <a:prstGeom prst="rect">
            <a:avLst/>
          </a:prstGeom>
        </p:spPr>
        <p:txBody>
          <a:bodyPr wrap="square" lIns="0" tIns="0" rIns="0" bIns="0" rtlCol="0" anchor="t">
            <a:spAutoFit/>
          </a:bodyPr>
          <a:lstStyle/>
          <a:p>
            <a:pPr marL="367028" lvl="1">
              <a:lnSpc>
                <a:spcPts val="4759"/>
              </a:lnSpc>
              <a:spcBef>
                <a:spcPct val="0"/>
              </a:spcBef>
            </a:pPr>
            <a:r>
              <a:rPr lang="en-US" sz="2800" dirty="0">
                <a:solidFill>
                  <a:schemeClr val="bg1"/>
                </a:solidFill>
                <a:latin typeface="Times New Roman" panose="02020603050405020304" pitchFamily="18" charset="0"/>
                <a:cs typeface="Times New Roman" panose="02020603050405020304" pitchFamily="18" charset="0"/>
              </a:rPr>
              <a:t>Current debugging tools restrict beginner programmers because they only deliver solutions. This situation leads to multiple errors which result in limited knowledge and users needing outside assistance.</a:t>
            </a:r>
            <a:endPar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14" name="TextBox 5">
            <a:extLst>
              <a:ext uri="{FF2B5EF4-FFF2-40B4-BE49-F238E27FC236}">
                <a16:creationId xmlns:a16="http://schemas.microsoft.com/office/drawing/2014/main" id="{C0A8B42E-3282-35F0-7A1A-DCED4836B4FE}"/>
              </a:ext>
            </a:extLst>
          </p:cNvPr>
          <p:cNvSpPr txBox="1"/>
          <p:nvPr/>
        </p:nvSpPr>
        <p:spPr>
          <a:xfrm>
            <a:off x="1912728" y="6031845"/>
            <a:ext cx="6330423" cy="1723549"/>
          </a:xfrm>
          <a:prstGeom prst="rect">
            <a:avLst/>
          </a:prstGeom>
        </p:spPr>
        <p:txBody>
          <a:bodyPr wrap="square" lIns="0" tIns="0" rIns="0" bIns="0" rtlCol="0" anchor="t">
            <a:spAutoFit/>
          </a:bodyPr>
          <a:lstStyle/>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Students learning programming</a:t>
            </a:r>
          </a:p>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Beginner developers</a:t>
            </a:r>
          </a:p>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Competitive coders</a:t>
            </a:r>
          </a:p>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Self-taught programmers</a:t>
            </a:r>
          </a:p>
        </p:txBody>
      </p:sp>
      <p:sp>
        <p:nvSpPr>
          <p:cNvPr id="15" name="TextBox 6">
            <a:extLst>
              <a:ext uri="{FF2B5EF4-FFF2-40B4-BE49-F238E27FC236}">
                <a16:creationId xmlns:a16="http://schemas.microsoft.com/office/drawing/2014/main" id="{51F83882-57EA-EE22-B204-DB9E6227065A}"/>
              </a:ext>
            </a:extLst>
          </p:cNvPr>
          <p:cNvSpPr txBox="1"/>
          <p:nvPr/>
        </p:nvSpPr>
        <p:spPr>
          <a:xfrm>
            <a:off x="9220912" y="6031844"/>
            <a:ext cx="6469166" cy="1723549"/>
          </a:xfrm>
          <a:prstGeom prst="rect">
            <a:avLst/>
          </a:prstGeom>
        </p:spPr>
        <p:txBody>
          <a:bodyPr wrap="square" lIns="0" tIns="0" rIns="0" bIns="0" rtlCol="0" anchor="t">
            <a:spAutoFit/>
          </a:bodyPr>
          <a:lstStyle/>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Slows down learning process </a:t>
            </a:r>
          </a:p>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Creates frustration and low confidence </a:t>
            </a:r>
          </a:p>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Leads to repeated mistakes </a:t>
            </a:r>
          </a:p>
          <a:p>
            <a:pPr marL="514350" indent="-514350">
              <a:buFont typeface="+mj-lt"/>
              <a:buAutoNum type="alphaLcPeriod"/>
            </a:pPr>
            <a:r>
              <a:rPr lang="en-US" sz="2800" dirty="0">
                <a:solidFill>
                  <a:schemeClr val="bg1"/>
                </a:solidFill>
                <a:latin typeface="Times New Roman" panose="02020603050405020304" pitchFamily="18" charset="0"/>
                <a:cs typeface="Times New Roman" panose="02020603050405020304" pitchFamily="18" charset="0"/>
              </a:rPr>
              <a:t>Reduces coding efficiency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406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4369709" y="525462"/>
            <a:ext cx="9308753"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EXISTING  SOLUTIONS  AND  GAPS</a:t>
            </a:r>
          </a:p>
        </p:txBody>
      </p:sp>
      <p:sp>
        <p:nvSpPr>
          <p:cNvPr id="4" name="TextBox 4"/>
          <p:cNvSpPr txBox="1"/>
          <p:nvPr/>
        </p:nvSpPr>
        <p:spPr>
          <a:xfrm>
            <a:off x="1221872" y="2367545"/>
            <a:ext cx="7247010"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List of existing Solutions  (if any)</a:t>
            </a:r>
          </a:p>
        </p:txBody>
      </p:sp>
      <p:sp>
        <p:nvSpPr>
          <p:cNvPr id="5" name="TextBox 5"/>
          <p:cNvSpPr txBox="1"/>
          <p:nvPr/>
        </p:nvSpPr>
        <p:spPr>
          <a:xfrm>
            <a:off x="9819120" y="2322086"/>
            <a:ext cx="5894816"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Their Limitations</a:t>
            </a:r>
          </a:p>
        </p:txBody>
      </p:sp>
      <p:sp>
        <p:nvSpPr>
          <p:cNvPr id="6" name="TextBox 6"/>
          <p:cNvSpPr txBox="1"/>
          <p:nvPr/>
        </p:nvSpPr>
        <p:spPr>
          <a:xfrm>
            <a:off x="1155464" y="5479638"/>
            <a:ext cx="7672342"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The gap our project will address:</a:t>
            </a:r>
          </a:p>
        </p:txBody>
      </p:sp>
      <p:grpSp>
        <p:nvGrpSpPr>
          <p:cNvPr id="7" name="Group 7"/>
          <p:cNvGrpSpPr/>
          <p:nvPr/>
        </p:nvGrpSpPr>
        <p:grpSpPr>
          <a:xfrm>
            <a:off x="1221872" y="1656550"/>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
        <p:nvSpPr>
          <p:cNvPr id="12" name="TextBox 4">
            <a:extLst>
              <a:ext uri="{FF2B5EF4-FFF2-40B4-BE49-F238E27FC236}">
                <a16:creationId xmlns:a16="http://schemas.microsoft.com/office/drawing/2014/main" id="{B876380C-EAE6-D455-BE4E-13CFEF3C3568}"/>
              </a:ext>
            </a:extLst>
          </p:cNvPr>
          <p:cNvSpPr txBox="1"/>
          <p:nvPr/>
        </p:nvSpPr>
        <p:spPr>
          <a:xfrm>
            <a:off x="2340018" y="3013932"/>
            <a:ext cx="7247010" cy="2154436"/>
          </a:xfrm>
          <a:prstGeom prst="rect">
            <a:avLst/>
          </a:prstGeom>
        </p:spPr>
        <p:txBody>
          <a:bodyPr wrap="square" lIns="0" tIns="0" rIns="0" bIns="0" rtlCol="0" anchor="t">
            <a:spAutoFit/>
          </a:bodyPr>
          <a:lstStyle/>
          <a:p>
            <a:pPr marL="514350" indent="-514350">
              <a:buFont typeface="+mj-lt"/>
              <a:buAutoNum type="alphaLcParenR"/>
            </a:pPr>
            <a:r>
              <a:rPr lang="en-IN" sz="2800" dirty="0">
                <a:solidFill>
                  <a:schemeClr val="bg1"/>
                </a:solidFill>
                <a:latin typeface="Times New Roman" panose="02020603050405020304" pitchFamily="18" charset="0"/>
                <a:cs typeface="Times New Roman" panose="02020603050405020304" pitchFamily="18" charset="0"/>
              </a:rPr>
              <a:t>Stack Overflow</a:t>
            </a:r>
          </a:p>
          <a:p>
            <a:pPr marL="514350" indent="-514350">
              <a:buFont typeface="+mj-lt"/>
              <a:buAutoNum type="alphaLcParenR"/>
            </a:pPr>
            <a:r>
              <a:rPr lang="en-IN" sz="2800" dirty="0">
                <a:solidFill>
                  <a:schemeClr val="bg1"/>
                </a:solidFill>
                <a:latin typeface="Times New Roman" panose="02020603050405020304" pitchFamily="18" charset="0"/>
                <a:cs typeface="Times New Roman" panose="02020603050405020304" pitchFamily="18" charset="0"/>
              </a:rPr>
              <a:t>ChatGPT / AI tools</a:t>
            </a:r>
          </a:p>
          <a:p>
            <a:pPr marL="514350" indent="-514350">
              <a:buFont typeface="+mj-lt"/>
              <a:buAutoNum type="alphaLcParenR"/>
            </a:pPr>
            <a:r>
              <a:rPr lang="en-IN" sz="2800" dirty="0">
                <a:solidFill>
                  <a:schemeClr val="bg1"/>
                </a:solidFill>
                <a:latin typeface="Times New Roman" panose="02020603050405020304" pitchFamily="18" charset="0"/>
                <a:cs typeface="Times New Roman" panose="02020603050405020304" pitchFamily="18" charset="0"/>
              </a:rPr>
              <a:t>Compiler error messages</a:t>
            </a:r>
          </a:p>
          <a:p>
            <a:pPr marL="514350" indent="-514350">
              <a:buFont typeface="+mj-lt"/>
              <a:buAutoNum type="alphaLcParenR"/>
            </a:pPr>
            <a:r>
              <a:rPr lang="en-IN" sz="2800" dirty="0">
                <a:solidFill>
                  <a:schemeClr val="bg1"/>
                </a:solidFill>
                <a:latin typeface="Times New Roman" panose="02020603050405020304" pitchFamily="18" charset="0"/>
                <a:cs typeface="Times New Roman" panose="02020603050405020304" pitchFamily="18" charset="0"/>
              </a:rPr>
              <a:t>Online tutorials</a:t>
            </a:r>
          </a:p>
          <a:p>
            <a:pPr marL="514350" indent="-514350">
              <a:buFont typeface="+mj-lt"/>
              <a:buAutoNum type="alphaLcParenR"/>
            </a:pPr>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13" name="TextBox 5">
            <a:extLst>
              <a:ext uri="{FF2B5EF4-FFF2-40B4-BE49-F238E27FC236}">
                <a16:creationId xmlns:a16="http://schemas.microsoft.com/office/drawing/2014/main" id="{13C318B1-57C7-6EB0-6341-475D00F6E8CD}"/>
              </a:ext>
            </a:extLst>
          </p:cNvPr>
          <p:cNvSpPr txBox="1"/>
          <p:nvPr/>
        </p:nvSpPr>
        <p:spPr>
          <a:xfrm>
            <a:off x="10338988" y="2931354"/>
            <a:ext cx="6698015" cy="3016210"/>
          </a:xfrm>
          <a:prstGeom prst="rect">
            <a:avLst/>
          </a:prstGeom>
        </p:spPr>
        <p:txBody>
          <a:bodyPr wrap="square" lIns="0" tIns="0" rIns="0" bIns="0" rtlCol="0" anchor="t">
            <a:spAutoFit/>
          </a:bodyPr>
          <a:lstStyle/>
          <a:p>
            <a:pPr marL="514350" indent="-514350">
              <a:buFont typeface="+mj-lt"/>
              <a:buAutoNum type="alphaLcParenR"/>
            </a:pPr>
            <a:r>
              <a:rPr lang="en-US" sz="2800" dirty="0">
                <a:solidFill>
                  <a:schemeClr val="bg1"/>
                </a:solidFill>
                <a:latin typeface="Times New Roman" panose="02020603050405020304" pitchFamily="18" charset="0"/>
                <a:cs typeface="Times New Roman" panose="02020603050405020304" pitchFamily="18" charset="0"/>
              </a:rPr>
              <a:t>Generic explanations (not personalized)</a:t>
            </a:r>
          </a:p>
          <a:p>
            <a:pPr marL="514350" indent="-514350">
              <a:buFont typeface="+mj-lt"/>
              <a:buAutoNum type="alphaLcParenR"/>
            </a:pPr>
            <a:r>
              <a:rPr lang="en-US" sz="2800" dirty="0">
                <a:solidFill>
                  <a:schemeClr val="bg1"/>
                </a:solidFill>
                <a:latin typeface="Times New Roman" panose="02020603050405020304" pitchFamily="18" charset="0"/>
                <a:cs typeface="Times New Roman" panose="02020603050405020304" pitchFamily="18" charset="0"/>
              </a:rPr>
              <a:t>No tracking of user mistakes</a:t>
            </a:r>
          </a:p>
          <a:p>
            <a:pPr marL="514350" indent="-514350">
              <a:buFont typeface="+mj-lt"/>
              <a:buAutoNum type="alphaLcParenR"/>
            </a:pPr>
            <a:r>
              <a:rPr lang="en-US" sz="2800" dirty="0">
                <a:solidFill>
                  <a:schemeClr val="bg1"/>
                </a:solidFill>
                <a:latin typeface="Times New Roman" panose="02020603050405020304" pitchFamily="18" charset="0"/>
                <a:cs typeface="Times New Roman" panose="02020603050405020304" pitchFamily="18" charset="0"/>
              </a:rPr>
              <a:t>No longitudinal tracking of user error patterns</a:t>
            </a:r>
          </a:p>
          <a:p>
            <a:pPr marL="514350" indent="-514350">
              <a:buFont typeface="+mj-lt"/>
              <a:buAutoNum type="alphaLcParenR"/>
            </a:pPr>
            <a:r>
              <a:rPr lang="en-US" sz="2800" dirty="0">
                <a:solidFill>
                  <a:schemeClr val="bg1"/>
                </a:solidFill>
                <a:latin typeface="Times New Roman" panose="02020603050405020304" pitchFamily="18" charset="0"/>
                <a:cs typeface="Times New Roman" panose="02020603050405020304" pitchFamily="18" charset="0"/>
              </a:rPr>
              <a:t>Learning is passive, not adaptive</a:t>
            </a:r>
          </a:p>
          <a:p>
            <a:pPr marL="514350" indent="-514350">
              <a:buFont typeface="+mj-lt"/>
              <a:buAutoNum type="alphaLcParenR"/>
            </a:pPr>
            <a:r>
              <a:rPr lang="en-US" sz="2800" dirty="0">
                <a:solidFill>
                  <a:schemeClr val="bg1"/>
                </a:solidFill>
                <a:latin typeface="Times New Roman" panose="02020603050405020304" pitchFamily="18" charset="0"/>
                <a:cs typeface="Times New Roman" panose="02020603050405020304" pitchFamily="18" charset="0"/>
              </a:rPr>
              <a:t>Complex solutions rather than basic explanation</a:t>
            </a:r>
          </a:p>
        </p:txBody>
      </p:sp>
      <p:sp>
        <p:nvSpPr>
          <p:cNvPr id="16" name="TextBox 6">
            <a:extLst>
              <a:ext uri="{FF2B5EF4-FFF2-40B4-BE49-F238E27FC236}">
                <a16:creationId xmlns:a16="http://schemas.microsoft.com/office/drawing/2014/main" id="{7B295B43-F16F-072E-D6CD-45320A5FFAD1}"/>
              </a:ext>
            </a:extLst>
          </p:cNvPr>
          <p:cNvSpPr txBox="1"/>
          <p:nvPr/>
        </p:nvSpPr>
        <p:spPr>
          <a:xfrm>
            <a:off x="1699083" y="6124421"/>
            <a:ext cx="15337920" cy="2392450"/>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dirty="0">
                <a:solidFill>
                  <a:schemeClr val="bg1"/>
                </a:solidFill>
                <a:latin typeface="Times New Roman" panose="02020603050405020304" pitchFamily="18" charset="0"/>
                <a:cs typeface="Times New Roman" panose="02020603050405020304" pitchFamily="18" charset="0"/>
              </a:rPr>
              <a:t>There is no system that understands how a user thinks, tracks their mistakes over time, and actively prevents future errors.</a:t>
            </a:r>
          </a:p>
          <a:p>
            <a:pPr marL="734056" lvl="1" indent="-367028">
              <a:lnSpc>
                <a:spcPts val="4759"/>
              </a:lnSpc>
              <a:spcBef>
                <a:spcPct val="0"/>
              </a:spcBef>
              <a:buFont typeface="Arial"/>
              <a:buChar char="•"/>
            </a:pPr>
            <a:r>
              <a:rPr lang="en-US" sz="2800" dirty="0">
                <a:solidFill>
                  <a:schemeClr val="bg1"/>
                </a:solidFill>
                <a:latin typeface="Times New Roman" panose="02020603050405020304" pitchFamily="18" charset="0"/>
                <a:cs typeface="Times New Roman" panose="02020603050405020304" pitchFamily="18" charset="0"/>
                <a:sym typeface="Times New Roman Bold"/>
              </a:rPr>
              <a:t>Our project aims to help the user grasp the basics of the program they are creating so that they don’t need to use different tools for basic problems and enable them to think like a programmer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70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6113000" y="525462"/>
            <a:ext cx="6320879"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PROPOSED  SOLUTION </a:t>
            </a:r>
          </a:p>
        </p:txBody>
      </p:sp>
      <p:sp>
        <p:nvSpPr>
          <p:cNvPr id="4" name="TextBox 4"/>
          <p:cNvSpPr txBox="1"/>
          <p:nvPr/>
        </p:nvSpPr>
        <p:spPr>
          <a:xfrm>
            <a:off x="1186120" y="1979598"/>
            <a:ext cx="5748114"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Our solution:</a:t>
            </a:r>
          </a:p>
        </p:txBody>
      </p:sp>
      <p:grpSp>
        <p:nvGrpSpPr>
          <p:cNvPr id="7" name="Group 7"/>
          <p:cNvGrpSpPr/>
          <p:nvPr/>
        </p:nvGrpSpPr>
        <p:grpSpPr>
          <a:xfrm>
            <a:off x="1028700" y="1613071"/>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grpSp>
        <p:nvGrpSpPr>
          <p:cNvPr id="16" name="Group 15">
            <a:extLst>
              <a:ext uri="{FF2B5EF4-FFF2-40B4-BE49-F238E27FC236}">
                <a16:creationId xmlns:a16="http://schemas.microsoft.com/office/drawing/2014/main" id="{7522EE82-E714-29F4-B121-DFA5ABAC25D4}"/>
              </a:ext>
            </a:extLst>
          </p:cNvPr>
          <p:cNvGrpSpPr/>
          <p:nvPr/>
        </p:nvGrpSpPr>
        <p:grpSpPr>
          <a:xfrm>
            <a:off x="1186120" y="5515279"/>
            <a:ext cx="7043480" cy="3256614"/>
            <a:chOff x="1186120" y="4783760"/>
            <a:chExt cx="7043480" cy="3256614"/>
          </a:xfrm>
        </p:grpSpPr>
        <p:sp>
          <p:nvSpPr>
            <p:cNvPr id="5" name="TextBox 5"/>
            <p:cNvSpPr txBox="1"/>
            <p:nvPr/>
          </p:nvSpPr>
          <p:spPr>
            <a:xfrm>
              <a:off x="1186120" y="4783760"/>
              <a:ext cx="4159446"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Key features:</a:t>
              </a:r>
            </a:p>
          </p:txBody>
        </p:sp>
        <p:sp>
          <p:nvSpPr>
            <p:cNvPr id="12" name="TextBox 5">
              <a:extLst>
                <a:ext uri="{FF2B5EF4-FFF2-40B4-BE49-F238E27FC236}">
                  <a16:creationId xmlns:a16="http://schemas.microsoft.com/office/drawing/2014/main" id="{2727DB1A-D3A1-4A65-91E3-1A21C81E08FF}"/>
                </a:ext>
              </a:extLst>
            </p:cNvPr>
            <p:cNvSpPr txBox="1"/>
            <p:nvPr/>
          </p:nvSpPr>
          <p:spPr>
            <a:xfrm>
              <a:off x="1699083" y="5455051"/>
              <a:ext cx="6530517" cy="2585323"/>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IN" sz="2800" dirty="0">
                  <a:solidFill>
                    <a:schemeClr val="bg1"/>
                  </a:solidFill>
                  <a:latin typeface="Times New Roman" panose="02020603050405020304" pitchFamily="18" charset="0"/>
                  <a:cs typeface="Times New Roman" panose="02020603050405020304" pitchFamily="18" charset="0"/>
                </a:rPr>
                <a:t>Cognitive Error Pattern </a:t>
              </a:r>
              <a:r>
                <a:rPr lang="en-IN" sz="2800" dirty="0" err="1">
                  <a:solidFill>
                    <a:schemeClr val="bg1"/>
                  </a:solidFill>
                  <a:latin typeface="Times New Roman" panose="02020603050405020304" pitchFamily="18" charset="0"/>
                  <a:cs typeface="Times New Roman" panose="02020603050405020304" pitchFamily="18" charset="0"/>
                </a:rPr>
                <a:t>Modeling</a:t>
              </a:r>
              <a:endParaRPr lang="en-IN" sz="2800" dirty="0">
                <a:solidFill>
                  <a:schemeClr val="bg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solidFill>
                    <a:schemeClr val="bg1"/>
                  </a:solidFill>
                  <a:latin typeface="Times New Roman" panose="02020603050405020304" pitchFamily="18" charset="0"/>
                  <a:cs typeface="Times New Roman" panose="02020603050405020304" pitchFamily="18" charset="0"/>
                </a:rPr>
                <a:t>Error Prediction System</a:t>
              </a:r>
            </a:p>
            <a:p>
              <a:pPr marL="457200" indent="-457200">
                <a:buFont typeface="Arial" panose="020B0604020202020204" pitchFamily="34" charset="0"/>
                <a:buChar char="•"/>
              </a:pPr>
              <a:r>
                <a:rPr lang="en-IN" sz="2800" dirty="0">
                  <a:solidFill>
                    <a:schemeClr val="bg1"/>
                  </a:solidFill>
                  <a:latin typeface="Times New Roman" panose="02020603050405020304" pitchFamily="18" charset="0"/>
                  <a:cs typeface="Times New Roman" panose="02020603050405020304" pitchFamily="18" charset="0"/>
                </a:rPr>
                <a:t>Personalized Learning Mode</a:t>
              </a:r>
            </a:p>
            <a:p>
              <a:pPr marL="457200" indent="-457200">
                <a:buFont typeface="Arial" panose="020B0604020202020204" pitchFamily="34" charset="0"/>
                <a:buChar char="•"/>
              </a:pPr>
              <a:r>
                <a:rPr lang="en-IN" sz="2800" dirty="0">
                  <a:solidFill>
                    <a:schemeClr val="bg1"/>
                  </a:solidFill>
                  <a:latin typeface="Times New Roman" panose="02020603050405020304" pitchFamily="18" charset="0"/>
                  <a:cs typeface="Times New Roman" panose="02020603050405020304" pitchFamily="18" charset="0"/>
                </a:rPr>
                <a:t>Error Simulation</a:t>
              </a:r>
            </a:p>
            <a:p>
              <a:pPr marL="457200" indent="-457200">
                <a:buFont typeface="Arial" panose="020B0604020202020204" pitchFamily="34" charset="0"/>
                <a:buChar char="•"/>
              </a:pPr>
              <a:r>
                <a:rPr lang="en-IN" sz="2800" dirty="0">
                  <a:solidFill>
                    <a:schemeClr val="bg1"/>
                  </a:solidFill>
                  <a:latin typeface="Times New Roman" panose="02020603050405020304" pitchFamily="18" charset="0"/>
                  <a:cs typeface="Times New Roman" panose="02020603050405020304" pitchFamily="18" charset="0"/>
                </a:rPr>
                <a:t>Fix vs Learn Mode</a:t>
              </a:r>
            </a:p>
            <a:p>
              <a:pPr marL="457200" indent="-457200">
                <a:buFont typeface="Arial" panose="020B0604020202020204" pitchFamily="34" charset="0"/>
                <a:buChar char="•"/>
              </a:pPr>
              <a:r>
                <a:rPr lang="en-IN" sz="2800" dirty="0">
                  <a:solidFill>
                    <a:schemeClr val="bg1"/>
                  </a:solidFill>
                  <a:latin typeface="Times New Roman" panose="02020603050405020304" pitchFamily="18" charset="0"/>
                  <a:cs typeface="Times New Roman" panose="02020603050405020304" pitchFamily="18" charset="0"/>
                </a:rPr>
                <a:t>User Coding Profile</a:t>
              </a:r>
            </a:p>
          </p:txBody>
        </p:sp>
      </p:grpSp>
      <p:sp>
        <p:nvSpPr>
          <p:cNvPr id="13" name="TextBox 4">
            <a:extLst>
              <a:ext uri="{FF2B5EF4-FFF2-40B4-BE49-F238E27FC236}">
                <a16:creationId xmlns:a16="http://schemas.microsoft.com/office/drawing/2014/main" id="{45791AF5-3272-6E24-B03C-E06E01A6FA73}"/>
              </a:ext>
            </a:extLst>
          </p:cNvPr>
          <p:cNvSpPr txBox="1"/>
          <p:nvPr/>
        </p:nvSpPr>
        <p:spPr>
          <a:xfrm>
            <a:off x="1633178" y="2572973"/>
            <a:ext cx="11510253" cy="2154436"/>
          </a:xfrm>
          <a:prstGeom prst="rect">
            <a:avLst/>
          </a:prstGeom>
        </p:spPr>
        <p:txBody>
          <a:bodyPr wrap="square" lIns="0" tIns="0" rIns="0" bIns="0" rtlCol="0" anchor="t">
            <a:spAutoFit/>
          </a:bodyPr>
          <a:lstStyle/>
          <a:p>
            <a:pPr marL="514350" indent="-514350">
              <a:buFont typeface="+mj-lt"/>
              <a:buAutoNum type="alphaLcParenR"/>
            </a:pPr>
            <a:r>
              <a:rPr lang="en-US" sz="2800" dirty="0">
                <a:solidFill>
                  <a:schemeClr val="bg1"/>
                </a:solidFill>
                <a:latin typeface="Times New Roman" panose="02020603050405020304" pitchFamily="18" charset="0"/>
                <a:cs typeface="Times New Roman" panose="02020603050405020304" pitchFamily="18" charset="0"/>
              </a:rPr>
              <a:t>An </a:t>
            </a:r>
            <a:r>
              <a:rPr lang="en-US" sz="2800" b="1" dirty="0">
                <a:solidFill>
                  <a:schemeClr val="bg1"/>
                </a:solidFill>
                <a:latin typeface="Times New Roman" panose="02020603050405020304" pitchFamily="18" charset="0"/>
                <a:cs typeface="Times New Roman" panose="02020603050405020304" pitchFamily="18" charset="0"/>
              </a:rPr>
              <a:t>AI-powered debugging copilot</a:t>
            </a:r>
            <a:r>
              <a:rPr lang="en-US" sz="2800" dirty="0">
                <a:solidFill>
                  <a:schemeClr val="bg1"/>
                </a:solidFill>
                <a:latin typeface="Times New Roman" panose="02020603050405020304" pitchFamily="18" charset="0"/>
                <a:cs typeface="Times New Roman" panose="02020603050405020304" pitchFamily="18" charset="0"/>
              </a:rPr>
              <a:t> that not only explains errors but also:</a:t>
            </a:r>
          </a:p>
          <a:p>
            <a:pPr marL="971550" lvl="1" indent="-514350">
              <a:buFont typeface="Courier New" panose="02070309020205020404" pitchFamily="49" charset="0"/>
              <a:buChar char="o"/>
            </a:pPr>
            <a:r>
              <a:rPr lang="en-US" sz="2800" dirty="0">
                <a:solidFill>
                  <a:schemeClr val="bg1"/>
                </a:solidFill>
                <a:latin typeface="Times New Roman" panose="02020603050405020304" pitchFamily="18" charset="0"/>
                <a:cs typeface="Times New Roman" panose="02020603050405020304" pitchFamily="18" charset="0"/>
              </a:rPr>
              <a:t>Tracks user mistake patterns </a:t>
            </a:r>
          </a:p>
          <a:p>
            <a:pPr marL="971550" lvl="1" indent="-514350">
              <a:buFont typeface="Courier New" panose="02070309020205020404" pitchFamily="49" charset="0"/>
              <a:buChar char="o"/>
            </a:pPr>
            <a:r>
              <a:rPr lang="en-US" sz="2800" dirty="0">
                <a:solidFill>
                  <a:schemeClr val="bg1"/>
                </a:solidFill>
                <a:latin typeface="Times New Roman" panose="02020603050405020304" pitchFamily="18" charset="0"/>
                <a:cs typeface="Times New Roman" panose="02020603050405020304" pitchFamily="18" charset="0"/>
              </a:rPr>
              <a:t>Predicts future errors </a:t>
            </a:r>
          </a:p>
          <a:p>
            <a:pPr marL="971550" lvl="1" indent="-514350">
              <a:buFont typeface="Courier New" panose="02070309020205020404" pitchFamily="49" charset="0"/>
              <a:buChar char="o"/>
            </a:pPr>
            <a:r>
              <a:rPr lang="en-US" sz="2800" dirty="0">
                <a:solidFill>
                  <a:schemeClr val="bg1"/>
                </a:solidFill>
                <a:latin typeface="Times New Roman" panose="02020603050405020304" pitchFamily="18" charset="0"/>
                <a:cs typeface="Times New Roman" panose="02020603050405020304" pitchFamily="18" charset="0"/>
              </a:rPr>
              <a:t>Adapts explanations based on user level</a:t>
            </a:r>
          </a:p>
          <a:p>
            <a:pPr marL="971550" lvl="1" indent="-514350">
              <a:buFont typeface="Courier New" panose="02070309020205020404" pitchFamily="49" charset="0"/>
              <a:buChar char="o"/>
            </a:pPr>
            <a:r>
              <a:rPr lang="en-US" sz="2800" dirty="0">
                <a:solidFill>
                  <a:schemeClr val="bg1"/>
                </a:solidFill>
                <a:latin typeface="Times New Roman" panose="02020603050405020304" pitchFamily="18" charset="0"/>
                <a:cs typeface="Times New Roman" panose="02020603050405020304" pitchFamily="18" charset="0"/>
              </a:rPr>
              <a:t>Helps the user strengthen their grasp on a programming language</a:t>
            </a:r>
          </a:p>
        </p:txBody>
      </p:sp>
      <p:grpSp>
        <p:nvGrpSpPr>
          <p:cNvPr id="15" name="Group 14">
            <a:extLst>
              <a:ext uri="{FF2B5EF4-FFF2-40B4-BE49-F238E27FC236}">
                <a16:creationId xmlns:a16="http://schemas.microsoft.com/office/drawing/2014/main" id="{BA09534F-921A-F23F-7528-79691824E6ED}"/>
              </a:ext>
            </a:extLst>
          </p:cNvPr>
          <p:cNvGrpSpPr/>
          <p:nvPr/>
        </p:nvGrpSpPr>
        <p:grpSpPr>
          <a:xfrm>
            <a:off x="9208867" y="5537371"/>
            <a:ext cx="7534741" cy="2372748"/>
            <a:chOff x="9208867" y="4805852"/>
            <a:chExt cx="7534741" cy="2372748"/>
          </a:xfrm>
        </p:grpSpPr>
        <p:sp>
          <p:nvSpPr>
            <p:cNvPr id="6" name="TextBox 6"/>
            <p:cNvSpPr txBox="1"/>
            <p:nvPr/>
          </p:nvSpPr>
          <p:spPr>
            <a:xfrm>
              <a:off x="9208867" y="4805852"/>
              <a:ext cx="6769799"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How it solves the problem</a:t>
              </a:r>
            </a:p>
          </p:txBody>
        </p:sp>
        <p:sp>
          <p:nvSpPr>
            <p:cNvPr id="14" name="TextBox 6">
              <a:extLst>
                <a:ext uri="{FF2B5EF4-FFF2-40B4-BE49-F238E27FC236}">
                  <a16:creationId xmlns:a16="http://schemas.microsoft.com/office/drawing/2014/main" id="{2728398F-496A-2324-397D-2C56942C0FD5}"/>
                </a:ext>
              </a:extLst>
            </p:cNvPr>
            <p:cNvSpPr txBox="1"/>
            <p:nvPr/>
          </p:nvSpPr>
          <p:spPr>
            <a:xfrm>
              <a:off x="9773992" y="5455051"/>
              <a:ext cx="6969616" cy="1723549"/>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Converts debugging into a </a:t>
              </a:r>
              <a:r>
                <a:rPr lang="en-US" sz="2800" b="1" dirty="0">
                  <a:solidFill>
                    <a:schemeClr val="bg1"/>
                  </a:solidFill>
                  <a:latin typeface="Times New Roman" panose="02020603050405020304" pitchFamily="18" charset="0"/>
                  <a:cs typeface="Times New Roman" panose="02020603050405020304" pitchFamily="18" charset="0"/>
                </a:rPr>
                <a:t>learning process</a:t>
              </a:r>
              <a:r>
                <a:rPr lang="en-US" sz="2800" dirty="0">
                  <a:solidFill>
                    <a:schemeClr val="bg1"/>
                  </a:solidFill>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Prevents repeated mistakes </a:t>
              </a:r>
            </a:p>
            <a:p>
              <a:pPr marL="457200" indent="-45720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Improves coding skills faster </a:t>
              </a:r>
            </a:p>
            <a:p>
              <a:pPr marL="457200" indent="-45720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Provides personalized guidance </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5742232" y="396022"/>
            <a:ext cx="7099399"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 SYSTEM ARCHITECTURE</a:t>
            </a:r>
          </a:p>
        </p:txBody>
      </p:sp>
      <p:sp>
        <p:nvSpPr>
          <p:cNvPr id="5" name="TextBox 5"/>
          <p:cNvSpPr txBox="1"/>
          <p:nvPr/>
        </p:nvSpPr>
        <p:spPr>
          <a:xfrm>
            <a:off x="10002890" y="2065079"/>
            <a:ext cx="5294081"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Main components </a:t>
            </a:r>
          </a:p>
        </p:txBody>
      </p:sp>
      <p:sp>
        <p:nvSpPr>
          <p:cNvPr id="6" name="TextBox 6"/>
          <p:cNvSpPr txBox="1"/>
          <p:nvPr/>
        </p:nvSpPr>
        <p:spPr>
          <a:xfrm>
            <a:off x="454828" y="7736851"/>
            <a:ext cx="3493329"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Data flow</a:t>
            </a:r>
          </a:p>
        </p:txBody>
      </p:sp>
      <p:grpSp>
        <p:nvGrpSpPr>
          <p:cNvPr id="7" name="Group 7"/>
          <p:cNvGrpSpPr/>
          <p:nvPr/>
        </p:nvGrpSpPr>
        <p:grpSpPr>
          <a:xfrm>
            <a:off x="1176631" y="1549207"/>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
        <p:nvSpPr>
          <p:cNvPr id="13" name="TextBox 5">
            <a:extLst>
              <a:ext uri="{FF2B5EF4-FFF2-40B4-BE49-F238E27FC236}">
                <a16:creationId xmlns:a16="http://schemas.microsoft.com/office/drawing/2014/main" id="{DBE5BEFF-FE3F-46BC-C77E-B8FAAE70532B}"/>
              </a:ext>
            </a:extLst>
          </p:cNvPr>
          <p:cNvSpPr txBox="1"/>
          <p:nvPr/>
        </p:nvSpPr>
        <p:spPr>
          <a:xfrm>
            <a:off x="10756467" y="2675303"/>
            <a:ext cx="7125886" cy="3016210"/>
          </a:xfrm>
          <a:prstGeom prst="rect">
            <a:avLst/>
          </a:prstGeom>
        </p:spPr>
        <p:txBody>
          <a:bodyPr wrap="square" lIns="0" tIns="0" rIns="0" bIns="0" rtlCol="0" anchor="t">
            <a:spAutoFit/>
          </a:bodyPr>
          <a:lstStyle/>
          <a:p>
            <a:pPr marL="514350" indent="-514350">
              <a:buFont typeface="+mj-lt"/>
              <a:buAutoNum type="alphaLcParenR"/>
            </a:pPr>
            <a:r>
              <a:rPr lang="en-IN" sz="2800" b="1" dirty="0">
                <a:solidFill>
                  <a:schemeClr val="bg1"/>
                </a:solidFill>
                <a:latin typeface="Times New Roman" panose="02020603050405020304" pitchFamily="18" charset="0"/>
                <a:cs typeface="Times New Roman" panose="02020603050405020304" pitchFamily="18" charset="0"/>
              </a:rPr>
              <a:t>Frontend:</a:t>
            </a:r>
            <a:r>
              <a:rPr lang="en-IN" sz="2800" dirty="0">
                <a:solidFill>
                  <a:schemeClr val="bg1"/>
                </a:solidFill>
                <a:latin typeface="Times New Roman" panose="02020603050405020304" pitchFamily="18" charset="0"/>
                <a:cs typeface="Times New Roman" panose="02020603050405020304" pitchFamily="18" charset="0"/>
              </a:rPr>
              <a:t> React </a:t>
            </a:r>
          </a:p>
          <a:p>
            <a:pPr marL="514350" indent="-514350">
              <a:buFont typeface="+mj-lt"/>
              <a:buAutoNum type="alphaLcParenR"/>
            </a:pPr>
            <a:r>
              <a:rPr lang="en-IN" sz="2800" b="1" dirty="0">
                <a:solidFill>
                  <a:schemeClr val="bg1"/>
                </a:solidFill>
                <a:latin typeface="Times New Roman" panose="02020603050405020304" pitchFamily="18" charset="0"/>
                <a:cs typeface="Times New Roman" panose="02020603050405020304" pitchFamily="18" charset="0"/>
              </a:rPr>
              <a:t>Backend:</a:t>
            </a:r>
            <a:r>
              <a:rPr lang="en-IN" sz="2800" dirty="0">
                <a:solidFill>
                  <a:schemeClr val="bg1"/>
                </a:solidFill>
                <a:latin typeface="Times New Roman" panose="02020603050405020304" pitchFamily="18" charset="0"/>
                <a:cs typeface="Times New Roman" panose="02020603050405020304" pitchFamily="18" charset="0"/>
              </a:rPr>
              <a:t> </a:t>
            </a:r>
            <a:r>
              <a:rPr lang="en-IN" sz="2800" dirty="0" err="1">
                <a:solidFill>
                  <a:schemeClr val="bg1"/>
                </a:solidFill>
                <a:latin typeface="Times New Roman" panose="02020603050405020304" pitchFamily="18" charset="0"/>
                <a:cs typeface="Times New Roman" panose="02020603050405020304" pitchFamily="18" charset="0"/>
              </a:rPr>
              <a:t>FastAPI</a:t>
            </a:r>
            <a:r>
              <a:rPr lang="en-IN" sz="2800" dirty="0">
                <a:solidFill>
                  <a:schemeClr val="bg1"/>
                </a:solidFill>
                <a:latin typeface="Times New Roman" panose="02020603050405020304" pitchFamily="18" charset="0"/>
                <a:cs typeface="Times New Roman" panose="02020603050405020304" pitchFamily="18" charset="0"/>
              </a:rPr>
              <a:t> </a:t>
            </a:r>
          </a:p>
          <a:p>
            <a:pPr marL="514350" indent="-514350">
              <a:buFont typeface="+mj-lt"/>
              <a:buAutoNum type="alphaLcParenR"/>
            </a:pPr>
            <a:r>
              <a:rPr lang="en-IN" sz="2800" b="1" dirty="0">
                <a:solidFill>
                  <a:schemeClr val="bg1"/>
                </a:solidFill>
                <a:latin typeface="Times New Roman" panose="02020603050405020304" pitchFamily="18" charset="0"/>
                <a:cs typeface="Times New Roman" panose="02020603050405020304" pitchFamily="18" charset="0"/>
              </a:rPr>
              <a:t>Database:</a:t>
            </a:r>
            <a:r>
              <a:rPr lang="en-IN" sz="2800" dirty="0">
                <a:solidFill>
                  <a:schemeClr val="bg1"/>
                </a:solidFill>
                <a:latin typeface="Times New Roman" panose="02020603050405020304" pitchFamily="18" charset="0"/>
                <a:cs typeface="Times New Roman" panose="02020603050405020304" pitchFamily="18" charset="0"/>
              </a:rPr>
              <a:t> </a:t>
            </a:r>
            <a:r>
              <a:rPr lang="en-IN" sz="2800" dirty="0" err="1">
                <a:solidFill>
                  <a:schemeClr val="bg1"/>
                </a:solidFill>
                <a:latin typeface="Times New Roman" panose="02020603050405020304" pitchFamily="18" charset="0"/>
                <a:cs typeface="Times New Roman" panose="02020603050405020304" pitchFamily="18" charset="0"/>
              </a:rPr>
              <a:t>Supabase</a:t>
            </a:r>
            <a:r>
              <a:rPr lang="en-IN" sz="2800" dirty="0">
                <a:solidFill>
                  <a:schemeClr val="bg1"/>
                </a:solidFill>
                <a:latin typeface="Times New Roman" panose="02020603050405020304" pitchFamily="18" charset="0"/>
                <a:cs typeface="Times New Roman" panose="02020603050405020304" pitchFamily="18" charset="0"/>
              </a:rPr>
              <a:t> (PostgreSQL + Auth + Storage) </a:t>
            </a:r>
          </a:p>
          <a:p>
            <a:pPr marL="514350" indent="-514350">
              <a:buFont typeface="+mj-lt"/>
              <a:buAutoNum type="alphaLcParenR"/>
            </a:pPr>
            <a:r>
              <a:rPr lang="it-IT" sz="2800" b="1" dirty="0">
                <a:solidFill>
                  <a:schemeClr val="bg1"/>
                </a:solidFill>
                <a:latin typeface="Times New Roman" panose="02020603050405020304" pitchFamily="18" charset="0"/>
                <a:cs typeface="Times New Roman" panose="02020603050405020304" pitchFamily="18" charset="0"/>
              </a:rPr>
              <a:t>AI Engine:</a:t>
            </a:r>
            <a:r>
              <a:rPr lang="it-IT" sz="2800" dirty="0">
                <a:solidFill>
                  <a:schemeClr val="bg1"/>
                </a:solidFill>
                <a:latin typeface="Times New Roman" panose="02020603050405020304" pitchFamily="18" charset="0"/>
                <a:cs typeface="Times New Roman" panose="02020603050405020304" pitchFamily="18" charset="0"/>
              </a:rPr>
              <a:t> LLM API (Gemini)</a:t>
            </a:r>
            <a:endParaRPr lang="en-IN" sz="2800" dirty="0">
              <a:solidFill>
                <a:schemeClr val="bg1"/>
              </a:solidFill>
              <a:latin typeface="Times New Roman" panose="02020603050405020304" pitchFamily="18" charset="0"/>
              <a:cs typeface="Times New Roman" panose="02020603050405020304" pitchFamily="18" charset="0"/>
            </a:endParaRPr>
          </a:p>
          <a:p>
            <a:pPr marL="514350" indent="-514350">
              <a:buFont typeface="+mj-lt"/>
              <a:buAutoNum type="alphaLcParenR"/>
            </a:pPr>
            <a:r>
              <a:rPr lang="en-IN" sz="2800" b="1" dirty="0">
                <a:solidFill>
                  <a:schemeClr val="bg1"/>
                </a:solidFill>
                <a:latin typeface="Times New Roman" panose="02020603050405020304" pitchFamily="18" charset="0"/>
                <a:cs typeface="Times New Roman" panose="02020603050405020304" pitchFamily="18" charset="0"/>
              </a:rPr>
              <a:t>Pattern Analysis Module:</a:t>
            </a:r>
            <a:r>
              <a:rPr lang="en-IN" sz="2800" dirty="0">
                <a:solidFill>
                  <a:schemeClr val="bg1"/>
                </a:solidFill>
                <a:latin typeface="Times New Roman" panose="02020603050405020304" pitchFamily="18" charset="0"/>
                <a:cs typeface="Times New Roman" panose="02020603050405020304" pitchFamily="18" charset="0"/>
              </a:rPr>
              <a:t> Custom logic to track user mistakes </a:t>
            </a:r>
          </a:p>
        </p:txBody>
      </p:sp>
      <p:sp>
        <p:nvSpPr>
          <p:cNvPr id="14" name="TextBox 6">
            <a:extLst>
              <a:ext uri="{FF2B5EF4-FFF2-40B4-BE49-F238E27FC236}">
                <a16:creationId xmlns:a16="http://schemas.microsoft.com/office/drawing/2014/main" id="{2F9019E5-7953-68B2-31D7-29DB26FC6A01}"/>
              </a:ext>
            </a:extLst>
          </p:cNvPr>
          <p:cNvSpPr txBox="1"/>
          <p:nvPr/>
        </p:nvSpPr>
        <p:spPr>
          <a:xfrm>
            <a:off x="494936" y="8300660"/>
            <a:ext cx="16384976" cy="1161344"/>
          </a:xfrm>
          <a:prstGeom prst="rect">
            <a:avLst/>
          </a:prstGeom>
        </p:spPr>
        <p:txBody>
          <a:bodyPr wrap="square" lIns="0" tIns="0" rIns="0" bIns="0" rtlCol="0" anchor="t">
            <a:spAutoFit/>
          </a:bodyPr>
          <a:lstStyle/>
          <a:p>
            <a:pPr marL="367028" lvl="1">
              <a:lnSpc>
                <a:spcPts val="4759"/>
              </a:lnSpc>
              <a:spcBef>
                <a:spcPct val="0"/>
              </a:spcBef>
            </a:pPr>
            <a:r>
              <a:rPr lang="en-IN" sz="2800" dirty="0">
                <a:solidFill>
                  <a:schemeClr val="bg1"/>
                </a:solidFill>
                <a:latin typeface="Times New Roman" panose="02020603050405020304" pitchFamily="18" charset="0"/>
                <a:cs typeface="Times New Roman" panose="02020603050405020304" pitchFamily="18" charset="0"/>
              </a:rPr>
              <a:t>User writes code → sent to backend → backend sends to LLM API → AI returns explanation → pattern module analyses past errors → </a:t>
            </a:r>
            <a:r>
              <a:rPr lang="en-IN" sz="2800" dirty="0" err="1">
                <a:solidFill>
                  <a:schemeClr val="bg1"/>
                </a:solidFill>
                <a:latin typeface="Times New Roman" panose="02020603050405020304" pitchFamily="18" charset="0"/>
                <a:cs typeface="Times New Roman" panose="02020603050405020304" pitchFamily="18" charset="0"/>
              </a:rPr>
              <a:t>Supabase</a:t>
            </a:r>
            <a:r>
              <a:rPr lang="en-IN" sz="2800" dirty="0">
                <a:solidFill>
                  <a:schemeClr val="bg1"/>
                </a:solidFill>
                <a:latin typeface="Times New Roman" panose="02020603050405020304" pitchFamily="18" charset="0"/>
                <a:cs typeface="Times New Roman" panose="02020603050405020304" pitchFamily="18" charset="0"/>
              </a:rPr>
              <a:t> stores/updates user data → response sent back to frontend in real-time</a:t>
            </a:r>
            <a:endPar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p:txBody>
      </p:sp>
      <p:pic>
        <p:nvPicPr>
          <p:cNvPr id="18" name="Picture 17">
            <a:extLst>
              <a:ext uri="{FF2B5EF4-FFF2-40B4-BE49-F238E27FC236}">
                <a16:creationId xmlns:a16="http://schemas.microsoft.com/office/drawing/2014/main" id="{3CE4436D-4182-8030-FAE0-4B59C154068C}"/>
              </a:ext>
            </a:extLst>
          </p:cNvPr>
          <p:cNvPicPr>
            <a:picLocks noChangeAspect="1"/>
          </p:cNvPicPr>
          <p:nvPr/>
        </p:nvPicPr>
        <p:blipFill>
          <a:blip r:embed="rId5"/>
          <a:srcRect/>
          <a:stretch/>
        </p:blipFill>
        <p:spPr>
          <a:xfrm>
            <a:off x="503107" y="2155449"/>
            <a:ext cx="9563494" cy="5069755"/>
          </a:xfrm>
          <a:prstGeom prst="rect">
            <a:avLst/>
          </a:prstGeom>
        </p:spPr>
      </p:pic>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1956F7E5-5009-28C1-AB89-27A46571ADD3}"/>
                  </a:ext>
                </a:extLst>
              </p14:cNvPr>
              <p14:cNvContentPartPr/>
              <p14:nvPr/>
            </p14:nvContentPartPr>
            <p14:xfrm>
              <a:off x="8972990" y="6673660"/>
              <a:ext cx="678240" cy="163080"/>
            </p14:xfrm>
          </p:contentPart>
        </mc:Choice>
        <mc:Fallback xmlns="">
          <p:pic>
            <p:nvPicPr>
              <p:cNvPr id="22" name="Ink 21">
                <a:extLst>
                  <a:ext uri="{FF2B5EF4-FFF2-40B4-BE49-F238E27FC236}">
                    <a16:creationId xmlns:a16="http://schemas.microsoft.com/office/drawing/2014/main" id="{1956F7E5-5009-28C1-AB89-27A46571ADD3}"/>
                  </a:ext>
                </a:extLst>
              </p:cNvPr>
              <p:cNvPicPr/>
              <p:nvPr/>
            </p:nvPicPr>
            <p:blipFill>
              <a:blip r:embed="rId7"/>
              <a:stretch>
                <a:fillRect/>
              </a:stretch>
            </p:blipFill>
            <p:spPr>
              <a:xfrm>
                <a:off x="8955350" y="6655660"/>
                <a:ext cx="7138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C60B4BAB-C195-7684-B486-4AE375BB8F58}"/>
                  </a:ext>
                </a:extLst>
              </p14:cNvPr>
              <p14:cNvContentPartPr/>
              <p14:nvPr/>
            </p14:nvContentPartPr>
            <p14:xfrm>
              <a:off x="9476990" y="6853660"/>
              <a:ext cx="360" cy="360"/>
            </p14:xfrm>
          </p:contentPart>
        </mc:Choice>
        <mc:Fallback xmlns="">
          <p:pic>
            <p:nvPicPr>
              <p:cNvPr id="23" name="Ink 22">
                <a:extLst>
                  <a:ext uri="{FF2B5EF4-FFF2-40B4-BE49-F238E27FC236}">
                    <a16:creationId xmlns:a16="http://schemas.microsoft.com/office/drawing/2014/main" id="{C60B4BAB-C195-7684-B486-4AE375BB8F58}"/>
                  </a:ext>
                </a:extLst>
              </p:cNvPr>
              <p:cNvPicPr/>
              <p:nvPr/>
            </p:nvPicPr>
            <p:blipFill>
              <a:blip r:embed="rId9"/>
              <a:stretch>
                <a:fillRect/>
              </a:stretch>
            </p:blipFill>
            <p:spPr>
              <a:xfrm>
                <a:off x="9413990" y="67910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4" name="Ink 23">
                <a:extLst>
                  <a:ext uri="{FF2B5EF4-FFF2-40B4-BE49-F238E27FC236}">
                    <a16:creationId xmlns:a16="http://schemas.microsoft.com/office/drawing/2014/main" id="{A3AEDCBB-FED2-C4FC-264D-40000A9B79A3}"/>
                  </a:ext>
                </a:extLst>
              </p14:cNvPr>
              <p14:cNvContentPartPr/>
              <p14:nvPr/>
            </p14:nvContentPartPr>
            <p14:xfrm>
              <a:off x="8936630" y="6545500"/>
              <a:ext cx="1060560" cy="378000"/>
            </p14:xfrm>
          </p:contentPart>
        </mc:Choice>
        <mc:Fallback xmlns="">
          <p:pic>
            <p:nvPicPr>
              <p:cNvPr id="24" name="Ink 23">
                <a:extLst>
                  <a:ext uri="{FF2B5EF4-FFF2-40B4-BE49-F238E27FC236}">
                    <a16:creationId xmlns:a16="http://schemas.microsoft.com/office/drawing/2014/main" id="{A3AEDCBB-FED2-C4FC-264D-40000A9B79A3}"/>
                  </a:ext>
                </a:extLst>
              </p:cNvPr>
              <p:cNvPicPr/>
              <p:nvPr/>
            </p:nvPicPr>
            <p:blipFill>
              <a:blip r:embed="rId11"/>
              <a:stretch>
                <a:fillRect/>
              </a:stretch>
            </p:blipFill>
            <p:spPr>
              <a:xfrm>
                <a:off x="8873990" y="6482860"/>
                <a:ext cx="1186200" cy="503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Ink 24">
                <a:extLst>
                  <a:ext uri="{FF2B5EF4-FFF2-40B4-BE49-F238E27FC236}">
                    <a16:creationId xmlns:a16="http://schemas.microsoft.com/office/drawing/2014/main" id="{399A04CA-1EB0-D3B1-2575-BEBD60FE7963}"/>
                  </a:ext>
                </a:extLst>
              </p14:cNvPr>
              <p14:cNvContentPartPr/>
              <p14:nvPr/>
            </p14:nvContentPartPr>
            <p14:xfrm>
              <a:off x="18543950" y="4298020"/>
              <a:ext cx="16920" cy="7560"/>
            </p14:xfrm>
          </p:contentPart>
        </mc:Choice>
        <mc:Fallback xmlns="">
          <p:pic>
            <p:nvPicPr>
              <p:cNvPr id="25" name="Ink 24">
                <a:extLst>
                  <a:ext uri="{FF2B5EF4-FFF2-40B4-BE49-F238E27FC236}">
                    <a16:creationId xmlns:a16="http://schemas.microsoft.com/office/drawing/2014/main" id="{399A04CA-1EB0-D3B1-2575-BEBD60FE7963}"/>
                  </a:ext>
                </a:extLst>
              </p:cNvPr>
              <p:cNvPicPr/>
              <p:nvPr/>
            </p:nvPicPr>
            <p:blipFill>
              <a:blip r:embed="rId13"/>
              <a:stretch>
                <a:fillRect/>
              </a:stretch>
            </p:blipFill>
            <p:spPr>
              <a:xfrm>
                <a:off x="18480950" y="4235380"/>
                <a:ext cx="142560" cy="1332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3954672" y="396022"/>
            <a:ext cx="10896416"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FLOWCHART  /  WORKING PROCESS </a:t>
            </a:r>
          </a:p>
        </p:txBody>
      </p:sp>
      <p:sp>
        <p:nvSpPr>
          <p:cNvPr id="4" name="TextBox 4"/>
          <p:cNvSpPr txBox="1"/>
          <p:nvPr/>
        </p:nvSpPr>
        <p:spPr>
          <a:xfrm>
            <a:off x="901303" y="1873544"/>
            <a:ext cx="5422585"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Step-by-step working</a:t>
            </a:r>
          </a:p>
        </p:txBody>
      </p:sp>
      <p:sp>
        <p:nvSpPr>
          <p:cNvPr id="5" name="TextBox 5"/>
          <p:cNvSpPr txBox="1"/>
          <p:nvPr/>
        </p:nvSpPr>
        <p:spPr>
          <a:xfrm>
            <a:off x="633296" y="5922359"/>
            <a:ext cx="6174540"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User flow or system flow</a:t>
            </a:r>
          </a:p>
        </p:txBody>
      </p:sp>
      <p:grpSp>
        <p:nvGrpSpPr>
          <p:cNvPr id="7" name="Group 7"/>
          <p:cNvGrpSpPr/>
          <p:nvPr/>
        </p:nvGrpSpPr>
        <p:grpSpPr>
          <a:xfrm>
            <a:off x="1287580" y="1549207"/>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6007241"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
        <p:nvSpPr>
          <p:cNvPr id="12" name="TextBox 4">
            <a:extLst>
              <a:ext uri="{FF2B5EF4-FFF2-40B4-BE49-F238E27FC236}">
                <a16:creationId xmlns:a16="http://schemas.microsoft.com/office/drawing/2014/main" id="{9DF0999D-68B0-B0D9-D2F2-BF4BA9F17B43}"/>
              </a:ext>
            </a:extLst>
          </p:cNvPr>
          <p:cNvSpPr txBox="1"/>
          <p:nvPr/>
        </p:nvSpPr>
        <p:spPr>
          <a:xfrm>
            <a:off x="2020801" y="2484503"/>
            <a:ext cx="6012246" cy="3016210"/>
          </a:xfrm>
          <a:prstGeom prst="rect">
            <a:avLst/>
          </a:prstGeom>
        </p:spPr>
        <p:txBody>
          <a:bodyPr wrap="square" lIns="0" tIns="0" rIns="0" bIns="0" rtlCol="0" anchor="t">
            <a:spAutoFit/>
          </a:bodyPr>
          <a:lstStyle/>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User writes code</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Error detected</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Code sent to backend</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AI analyses error</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Pattern system checks history</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Prediction + explanation generated</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Result shown to user</a:t>
            </a:r>
          </a:p>
        </p:txBody>
      </p:sp>
      <p:sp>
        <p:nvSpPr>
          <p:cNvPr id="16" name="TextBox 5">
            <a:extLst>
              <a:ext uri="{FF2B5EF4-FFF2-40B4-BE49-F238E27FC236}">
                <a16:creationId xmlns:a16="http://schemas.microsoft.com/office/drawing/2014/main" id="{2A5ADCF5-6AED-6BB6-4A32-74A9A3F17633}"/>
              </a:ext>
            </a:extLst>
          </p:cNvPr>
          <p:cNvSpPr txBox="1"/>
          <p:nvPr/>
        </p:nvSpPr>
        <p:spPr>
          <a:xfrm>
            <a:off x="1287580" y="6779571"/>
            <a:ext cx="8756794" cy="1161344"/>
          </a:xfrm>
          <a:prstGeom prst="rect">
            <a:avLst/>
          </a:prstGeom>
        </p:spPr>
        <p:txBody>
          <a:bodyPr wrap="square" lIns="0" tIns="0" rIns="0" bIns="0" rtlCol="0" anchor="t">
            <a:spAutoFit/>
          </a:bodyPr>
          <a:lstStyle/>
          <a:p>
            <a:pPr marL="367028" lvl="1">
              <a:lnSpc>
                <a:spcPts val="4759"/>
              </a:lnSpc>
              <a:spcBef>
                <a:spcPct val="0"/>
              </a:spcBef>
            </a:pPr>
            <a:r>
              <a:rPr lang="en-IN" sz="2800" dirty="0">
                <a:solidFill>
                  <a:schemeClr val="bg1"/>
                </a:solidFill>
                <a:latin typeface="Times New Roman" panose="02020603050405020304" pitchFamily="18" charset="0"/>
                <a:cs typeface="Times New Roman" panose="02020603050405020304" pitchFamily="18" charset="0"/>
              </a:rPr>
              <a:t>User → Code Input → Error Detection → AI Processing → Pattern Analysis → Output</a:t>
            </a:r>
            <a:endPar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p:txBody>
      </p:sp>
      <p:pic>
        <p:nvPicPr>
          <p:cNvPr id="18" name="Picture 17">
            <a:extLst>
              <a:ext uri="{FF2B5EF4-FFF2-40B4-BE49-F238E27FC236}">
                <a16:creationId xmlns:a16="http://schemas.microsoft.com/office/drawing/2014/main" id="{EBF0E20F-E846-6B8E-1E58-6B80A5CDBA2C}"/>
              </a:ext>
            </a:extLst>
          </p:cNvPr>
          <p:cNvPicPr>
            <a:picLocks noChangeAspect="1"/>
          </p:cNvPicPr>
          <p:nvPr/>
        </p:nvPicPr>
        <p:blipFill>
          <a:blip r:embed="rId5"/>
          <a:stretch>
            <a:fillRect/>
          </a:stretch>
        </p:blipFill>
        <p:spPr>
          <a:xfrm>
            <a:off x="11041397" y="2153609"/>
            <a:ext cx="6537302" cy="7737369"/>
          </a:xfrm>
          <a:prstGeom prst="rect">
            <a:avLst/>
          </a:prstGeom>
        </p:spPr>
      </p:pic>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918489BF-480B-26E8-6C88-649EA12A0F9D}"/>
                  </a:ext>
                </a:extLst>
              </p14:cNvPr>
              <p14:cNvContentPartPr/>
              <p14:nvPr/>
            </p14:nvContentPartPr>
            <p14:xfrm>
              <a:off x="16385750" y="9350270"/>
              <a:ext cx="1074240" cy="291600"/>
            </p14:xfrm>
          </p:contentPart>
        </mc:Choice>
        <mc:Fallback xmlns="">
          <p:pic>
            <p:nvPicPr>
              <p:cNvPr id="20" name="Ink 19">
                <a:extLst>
                  <a:ext uri="{FF2B5EF4-FFF2-40B4-BE49-F238E27FC236}">
                    <a16:creationId xmlns:a16="http://schemas.microsoft.com/office/drawing/2014/main" id="{918489BF-480B-26E8-6C88-649EA12A0F9D}"/>
                  </a:ext>
                </a:extLst>
              </p:cNvPr>
              <p:cNvPicPr/>
              <p:nvPr/>
            </p:nvPicPr>
            <p:blipFill>
              <a:blip r:embed="rId7"/>
              <a:stretch>
                <a:fillRect/>
              </a:stretch>
            </p:blipFill>
            <p:spPr>
              <a:xfrm>
                <a:off x="16323110" y="9287270"/>
                <a:ext cx="1199880" cy="4172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13" b="-9313"/>
            </a:stretch>
          </a:blipFill>
        </p:spPr>
      </p:sp>
      <p:sp>
        <p:nvSpPr>
          <p:cNvPr id="3" name="TextBox 3"/>
          <p:cNvSpPr txBox="1"/>
          <p:nvPr/>
        </p:nvSpPr>
        <p:spPr>
          <a:xfrm>
            <a:off x="6964329" y="364218"/>
            <a:ext cx="4814878" cy="823559"/>
          </a:xfrm>
          <a:prstGeom prst="rect">
            <a:avLst/>
          </a:prstGeom>
        </p:spPr>
        <p:txBody>
          <a:bodyPr wrap="square" lIns="0" tIns="0" rIns="0" bIns="0" rtlCol="0" anchor="t">
            <a:spAutoFit/>
          </a:bodyPr>
          <a:lstStyle/>
          <a:p>
            <a:pPr algn="ctr">
              <a:lnSpc>
                <a:spcPts val="6999"/>
              </a:lnSpc>
              <a:spcBef>
                <a:spcPct val="0"/>
              </a:spcBef>
            </a:pPr>
            <a:r>
              <a:rPr lang="en-US" sz="4999" b="1" spc="-399" dirty="0">
                <a:solidFill>
                  <a:srgbClr val="FFFFFF"/>
                </a:solidFill>
                <a:latin typeface="Times New Roman Bold"/>
                <a:ea typeface="Times New Roman Bold"/>
                <a:cs typeface="Times New Roman Bold"/>
                <a:sym typeface="Times New Roman Bold"/>
              </a:rPr>
              <a:t>TECH  STACK</a:t>
            </a:r>
          </a:p>
        </p:txBody>
      </p:sp>
      <p:sp>
        <p:nvSpPr>
          <p:cNvPr id="4" name="TextBox 4"/>
          <p:cNvSpPr txBox="1"/>
          <p:nvPr/>
        </p:nvSpPr>
        <p:spPr>
          <a:xfrm>
            <a:off x="1028700" y="1967201"/>
            <a:ext cx="4090690" cy="563809"/>
          </a:xfrm>
          <a:prstGeom prst="rect">
            <a:avLst/>
          </a:prstGeom>
        </p:spPr>
        <p:txBody>
          <a:bodyPr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Technologies:</a:t>
            </a:r>
          </a:p>
        </p:txBody>
      </p:sp>
      <p:sp>
        <p:nvSpPr>
          <p:cNvPr id="7" name="TextBox 7"/>
          <p:cNvSpPr txBox="1"/>
          <p:nvPr/>
        </p:nvSpPr>
        <p:spPr>
          <a:xfrm>
            <a:off x="1028700" y="4178253"/>
            <a:ext cx="10072539" cy="563809"/>
          </a:xfrm>
          <a:prstGeom prst="rect">
            <a:avLst/>
          </a:prstGeom>
        </p:spPr>
        <p:txBody>
          <a:bodyPr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Tools and APIs used:</a:t>
            </a:r>
          </a:p>
        </p:txBody>
      </p:sp>
      <p:grpSp>
        <p:nvGrpSpPr>
          <p:cNvPr id="8" name="Group 8"/>
          <p:cNvGrpSpPr/>
          <p:nvPr/>
        </p:nvGrpSpPr>
        <p:grpSpPr>
          <a:xfrm>
            <a:off x="1028700" y="1406083"/>
            <a:ext cx="16230600" cy="149974"/>
            <a:chOff x="0" y="0"/>
            <a:chExt cx="4052983" cy="37450"/>
          </a:xfrm>
        </p:grpSpPr>
        <p:sp>
          <p:nvSpPr>
            <p:cNvPr id="9" name="Freeform 9"/>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10" name="TextBox 10"/>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4"/>
            <a:stretch>
              <a:fillRect/>
            </a:stretch>
          </a:blipFill>
        </p:spPr>
      </p:sp>
      <p:sp>
        <p:nvSpPr>
          <p:cNvPr id="12" name="Freeform 12"/>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5"/>
            <a:stretch>
              <a:fillRect/>
            </a:stretch>
          </a:blipFill>
        </p:spPr>
      </p:sp>
      <p:sp>
        <p:nvSpPr>
          <p:cNvPr id="13" name="TextBox 4">
            <a:extLst>
              <a:ext uri="{FF2B5EF4-FFF2-40B4-BE49-F238E27FC236}">
                <a16:creationId xmlns:a16="http://schemas.microsoft.com/office/drawing/2014/main" id="{15D82D6D-6BC9-6783-9D07-0F1CE71776FD}"/>
              </a:ext>
            </a:extLst>
          </p:cNvPr>
          <p:cNvSpPr txBox="1"/>
          <p:nvPr/>
        </p:nvSpPr>
        <p:spPr>
          <a:xfrm>
            <a:off x="2060885" y="2599233"/>
            <a:ext cx="6117009" cy="1292662"/>
          </a:xfrm>
          <a:prstGeom prst="rect">
            <a:avLst/>
          </a:prstGeom>
        </p:spPr>
        <p:txBody>
          <a:bodyPr wrap="square" lIns="0" tIns="0" rIns="0" bIns="0" rtlCol="0" anchor="t">
            <a:spAutoFit/>
          </a:bodyPr>
          <a:lstStyle/>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Frontend: React</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Backend: </a:t>
            </a:r>
            <a:r>
              <a:rPr lang="en-IN" sz="2800" dirty="0" err="1">
                <a:solidFill>
                  <a:schemeClr val="bg1"/>
                </a:solidFill>
                <a:latin typeface="Times New Roman" panose="02020603050405020304" pitchFamily="18" charset="0"/>
                <a:cs typeface="Times New Roman" panose="02020603050405020304" pitchFamily="18" charset="0"/>
              </a:rPr>
              <a:t>FastAPI</a:t>
            </a:r>
            <a:endParaRPr lang="en-IN" sz="2800" dirty="0">
              <a:solidFill>
                <a:schemeClr val="bg1"/>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Database: </a:t>
            </a:r>
            <a:r>
              <a:rPr lang="en-IN" sz="2800" dirty="0" err="1">
                <a:solidFill>
                  <a:schemeClr val="bg1"/>
                </a:solidFill>
                <a:latin typeface="Times New Roman" panose="02020603050405020304" pitchFamily="18" charset="0"/>
                <a:cs typeface="Times New Roman" panose="02020603050405020304" pitchFamily="18" charset="0"/>
              </a:rPr>
              <a:t>Supabase</a:t>
            </a:r>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16" name="TextBox 7">
            <a:extLst>
              <a:ext uri="{FF2B5EF4-FFF2-40B4-BE49-F238E27FC236}">
                <a16:creationId xmlns:a16="http://schemas.microsoft.com/office/drawing/2014/main" id="{52C4E799-DB32-CC7D-B5CC-586224D236AE}"/>
              </a:ext>
            </a:extLst>
          </p:cNvPr>
          <p:cNvSpPr txBox="1"/>
          <p:nvPr/>
        </p:nvSpPr>
        <p:spPr>
          <a:xfrm>
            <a:off x="1699083" y="4861595"/>
            <a:ext cx="10072539" cy="861774"/>
          </a:xfrm>
          <a:prstGeom prst="rect">
            <a:avLst/>
          </a:prstGeom>
        </p:spPr>
        <p:txBody>
          <a:bodyPr lIns="0" tIns="0" rIns="0" bIns="0" rtlCol="0" anchor="t">
            <a:spAutoFit/>
          </a:bodyPr>
          <a:lstStyle/>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Gemini API → Error explanation</a:t>
            </a:r>
          </a:p>
          <a:p>
            <a:endParaRPr lang="en-IN" sz="28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dirty="0"/>
          </a:p>
        </p:txBody>
      </p:sp>
      <p:sp>
        <p:nvSpPr>
          <p:cNvPr id="3" name="TextBox 3"/>
          <p:cNvSpPr txBox="1"/>
          <p:nvPr/>
        </p:nvSpPr>
        <p:spPr>
          <a:xfrm>
            <a:off x="5441573" y="392689"/>
            <a:ext cx="7404854" cy="823559"/>
          </a:xfrm>
          <a:prstGeom prst="rect">
            <a:avLst/>
          </a:prstGeom>
        </p:spPr>
        <p:txBody>
          <a:bodyPr wrap="square" lIns="0" tIns="0" rIns="0" bIns="0" rtlCol="0" anchor="t">
            <a:spAutoFit/>
          </a:bodyPr>
          <a:lstStyle/>
          <a:p>
            <a:pPr algn="ctr">
              <a:lnSpc>
                <a:spcPts val="7000"/>
              </a:lnSpc>
              <a:spcBef>
                <a:spcPct val="0"/>
              </a:spcBef>
            </a:pPr>
            <a:r>
              <a:rPr lang="en-US" sz="5000" b="1" spc="-400" dirty="0">
                <a:solidFill>
                  <a:srgbClr val="FFFFFF"/>
                </a:solidFill>
                <a:latin typeface="Times New Roman Bold"/>
                <a:ea typeface="Times New Roman Bold"/>
                <a:cs typeface="Times New Roman Bold"/>
                <a:sym typeface="Times New Roman Bold"/>
              </a:rPr>
              <a:t>IMPLEMENTATION  PLAN</a:t>
            </a:r>
          </a:p>
        </p:txBody>
      </p:sp>
      <p:sp>
        <p:nvSpPr>
          <p:cNvPr id="4" name="TextBox 4"/>
          <p:cNvSpPr txBox="1"/>
          <p:nvPr/>
        </p:nvSpPr>
        <p:spPr>
          <a:xfrm>
            <a:off x="817521" y="1878854"/>
            <a:ext cx="5717812" cy="563809"/>
          </a:xfrm>
          <a:prstGeom prst="rect">
            <a:avLst/>
          </a:prstGeom>
        </p:spPr>
        <p:txBody>
          <a:bodyPr wrap="square" lIns="0" tIns="0" rIns="0" bIns="0" rtlCol="0" anchor="t">
            <a:spAutoFit/>
          </a:bodyPr>
          <a:lstStyle/>
          <a:p>
            <a:pPr marL="734059" lvl="1" indent="-367030"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Step-by-step development plan</a:t>
            </a:r>
          </a:p>
        </p:txBody>
      </p:sp>
      <p:sp>
        <p:nvSpPr>
          <p:cNvPr id="5" name="TextBox 5"/>
          <p:cNvSpPr txBox="1"/>
          <p:nvPr/>
        </p:nvSpPr>
        <p:spPr>
          <a:xfrm>
            <a:off x="10177291" y="1878853"/>
            <a:ext cx="6008444" cy="563809"/>
          </a:xfrm>
          <a:prstGeom prst="rect">
            <a:avLst/>
          </a:prstGeom>
        </p:spPr>
        <p:txBody>
          <a:bodyPr wrap="square" lIns="0" tIns="0" rIns="0" bIns="0" rtlCol="0" anchor="t">
            <a:spAutoFit/>
          </a:bodyPr>
          <a:lstStyle/>
          <a:p>
            <a:pPr marL="734059" lvl="1" indent="-367030"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Modules or features to be built</a:t>
            </a:r>
          </a:p>
        </p:txBody>
      </p:sp>
      <p:grpSp>
        <p:nvGrpSpPr>
          <p:cNvPr id="7" name="Group 7"/>
          <p:cNvGrpSpPr/>
          <p:nvPr/>
        </p:nvGrpSpPr>
        <p:grpSpPr>
          <a:xfrm>
            <a:off x="1116733" y="1459754"/>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
        <p:nvSpPr>
          <p:cNvPr id="15" name="TextBox 5">
            <a:extLst>
              <a:ext uri="{FF2B5EF4-FFF2-40B4-BE49-F238E27FC236}">
                <a16:creationId xmlns:a16="http://schemas.microsoft.com/office/drawing/2014/main" id="{153D2A15-FB06-7D47-9F04-598B828AEEDC}"/>
              </a:ext>
            </a:extLst>
          </p:cNvPr>
          <p:cNvSpPr txBox="1"/>
          <p:nvPr/>
        </p:nvSpPr>
        <p:spPr>
          <a:xfrm>
            <a:off x="10981345" y="2556686"/>
            <a:ext cx="6008444" cy="1723549"/>
          </a:xfrm>
          <a:prstGeom prst="rect">
            <a:avLst/>
          </a:prstGeom>
        </p:spPr>
        <p:txBody>
          <a:bodyPr wrap="square" lIns="0" tIns="0" rIns="0" bIns="0" rtlCol="0" anchor="t">
            <a:spAutoFit/>
          </a:bodyPr>
          <a:lstStyle/>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Error Analyzer</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AI Response Engine</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Pattern Tracker</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User Profile System</a:t>
            </a:r>
          </a:p>
        </p:txBody>
      </p:sp>
      <p:sp>
        <p:nvSpPr>
          <p:cNvPr id="6" name="TextBox 4">
            <a:extLst>
              <a:ext uri="{FF2B5EF4-FFF2-40B4-BE49-F238E27FC236}">
                <a16:creationId xmlns:a16="http://schemas.microsoft.com/office/drawing/2014/main" id="{A63F7882-6421-4EF6-1A36-DB922D871734}"/>
              </a:ext>
            </a:extLst>
          </p:cNvPr>
          <p:cNvSpPr txBox="1"/>
          <p:nvPr/>
        </p:nvSpPr>
        <p:spPr>
          <a:xfrm>
            <a:off x="1588844" y="2887318"/>
            <a:ext cx="5717812" cy="5601533"/>
          </a:xfrm>
          <a:prstGeom prst="rect">
            <a:avLst/>
          </a:prstGeom>
        </p:spPr>
        <p:txBody>
          <a:bodyPr wrap="square" lIns="0" tIns="0" rIns="0" bIns="0" rtlCol="0" anchor="t">
            <a:spAutoFit/>
          </a:bodyPr>
          <a:lstStyle/>
          <a:p>
            <a:r>
              <a:rPr lang="en-IN" sz="2800" dirty="0">
                <a:solidFill>
                  <a:schemeClr val="bg1"/>
                </a:solidFill>
                <a:latin typeface="Times New Roman" panose="02020603050405020304" pitchFamily="18" charset="0"/>
                <a:cs typeface="Times New Roman" panose="02020603050405020304" pitchFamily="18" charset="0"/>
              </a:rPr>
              <a:t>Phase 1:</a:t>
            </a:r>
          </a:p>
          <a:p>
            <a:pPr marL="514350" indent="-514350">
              <a:buAutoNum type="arabicPeriod"/>
            </a:pPr>
            <a:r>
              <a:rPr lang="en-IN" sz="2800" dirty="0">
                <a:solidFill>
                  <a:schemeClr val="bg1"/>
                </a:solidFill>
                <a:latin typeface="Times New Roman" panose="02020603050405020304" pitchFamily="18" charset="0"/>
                <a:cs typeface="Times New Roman" panose="02020603050405020304" pitchFamily="18" charset="0"/>
              </a:rPr>
              <a:t>Setup frontend editor</a:t>
            </a:r>
          </a:p>
          <a:p>
            <a:pPr marL="514350" indent="-514350">
              <a:buAutoNum type="arabicPeriod"/>
            </a:pPr>
            <a:r>
              <a:rPr lang="en-IN" sz="2800" dirty="0">
                <a:solidFill>
                  <a:schemeClr val="bg1"/>
                </a:solidFill>
                <a:latin typeface="Times New Roman" panose="02020603050405020304" pitchFamily="18" charset="0"/>
                <a:cs typeface="Times New Roman" panose="02020603050405020304" pitchFamily="18" charset="0"/>
              </a:rPr>
              <a:t>Create backend API</a:t>
            </a:r>
          </a:p>
          <a:p>
            <a:pPr marL="514350" indent="-514350">
              <a:buAutoNum type="arabicPeriod"/>
            </a:pPr>
            <a:r>
              <a:rPr lang="en-IN" sz="2800" dirty="0">
                <a:solidFill>
                  <a:schemeClr val="bg1"/>
                </a:solidFill>
                <a:latin typeface="Times New Roman" panose="02020603050405020304" pitchFamily="18" charset="0"/>
                <a:cs typeface="Times New Roman" panose="02020603050405020304" pitchFamily="18" charset="0"/>
              </a:rPr>
              <a:t>Integrate AI API</a:t>
            </a:r>
          </a:p>
          <a:p>
            <a:pPr marL="514350" indent="-514350">
              <a:buAutoNum type="arabicPeriod"/>
            </a:pPr>
            <a:r>
              <a:rPr lang="en-IN" sz="2800" dirty="0">
                <a:solidFill>
                  <a:schemeClr val="bg1"/>
                </a:solidFill>
                <a:latin typeface="Times New Roman" panose="02020603050405020304" pitchFamily="18" charset="0"/>
                <a:cs typeface="Times New Roman" panose="02020603050405020304" pitchFamily="18" charset="0"/>
              </a:rPr>
              <a:t>Build error detection module</a:t>
            </a:r>
          </a:p>
          <a:p>
            <a:endParaRPr lang="en-IN" sz="2800" dirty="0">
              <a:solidFill>
                <a:schemeClr val="bg1"/>
              </a:solidFill>
              <a:latin typeface="Times New Roman" panose="02020603050405020304" pitchFamily="18" charset="0"/>
              <a:cs typeface="Times New Roman" panose="02020603050405020304" pitchFamily="18" charset="0"/>
            </a:endParaRPr>
          </a:p>
          <a:p>
            <a:r>
              <a:rPr lang="en-IN" sz="2800" dirty="0">
                <a:solidFill>
                  <a:schemeClr val="bg1"/>
                </a:solidFill>
                <a:latin typeface="Times New Roman" panose="02020603050405020304" pitchFamily="18" charset="0"/>
                <a:cs typeface="Times New Roman" panose="02020603050405020304" pitchFamily="18" charset="0"/>
              </a:rPr>
              <a:t>Phase 2:</a:t>
            </a:r>
          </a:p>
          <a:p>
            <a:pPr marL="342900" indent="-34290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Add pattern tracking system</a:t>
            </a:r>
          </a:p>
          <a:p>
            <a:pPr marL="342900" indent="-34290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Connect database</a:t>
            </a:r>
          </a:p>
          <a:p>
            <a:endParaRPr lang="en-IN" sz="2800" dirty="0">
              <a:solidFill>
                <a:schemeClr val="bg1"/>
              </a:solidFill>
              <a:latin typeface="Times New Roman" panose="02020603050405020304" pitchFamily="18" charset="0"/>
              <a:cs typeface="Times New Roman" panose="02020603050405020304" pitchFamily="18" charset="0"/>
            </a:endParaRPr>
          </a:p>
          <a:p>
            <a:r>
              <a:rPr lang="en-IN" sz="2800" dirty="0">
                <a:solidFill>
                  <a:schemeClr val="bg1"/>
                </a:solidFill>
                <a:latin typeface="Times New Roman" panose="02020603050405020304" pitchFamily="18" charset="0"/>
                <a:cs typeface="Times New Roman" panose="02020603050405020304" pitchFamily="18" charset="0"/>
              </a:rPr>
              <a:t>Phase 3:</a:t>
            </a:r>
          </a:p>
          <a:p>
            <a:pPr marL="342900" indent="-34290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Add UI features</a:t>
            </a:r>
          </a:p>
          <a:p>
            <a:pPr marL="342900" indent="-34290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Testing &amp; deployment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4896553" y="377591"/>
            <a:ext cx="9186916" cy="823559"/>
          </a:xfrm>
          <a:prstGeom prst="rect">
            <a:avLst/>
          </a:prstGeom>
        </p:spPr>
        <p:txBody>
          <a:bodyPr wrap="square" lIns="0" tIns="0" rIns="0" bIns="0" rtlCol="0" anchor="t">
            <a:spAutoFit/>
          </a:bodyPr>
          <a:lstStyle/>
          <a:p>
            <a:pPr algn="ctr">
              <a:lnSpc>
                <a:spcPts val="7000"/>
              </a:lnSpc>
              <a:spcBef>
                <a:spcPct val="0"/>
              </a:spcBef>
            </a:pPr>
            <a:r>
              <a:rPr lang="en-US" sz="5000" b="1" spc="-400" dirty="0">
                <a:solidFill>
                  <a:srgbClr val="FFFFFF"/>
                </a:solidFill>
                <a:latin typeface="Times New Roman Bold"/>
                <a:ea typeface="Times New Roman Bold"/>
                <a:cs typeface="Times New Roman Bold"/>
                <a:sym typeface="Times New Roman Bold"/>
              </a:rPr>
              <a:t>EXPECTED OUTCOME  / IMPACT</a:t>
            </a:r>
          </a:p>
        </p:txBody>
      </p:sp>
      <p:sp>
        <p:nvSpPr>
          <p:cNvPr id="4" name="TextBox 4"/>
          <p:cNvSpPr txBox="1"/>
          <p:nvPr/>
        </p:nvSpPr>
        <p:spPr>
          <a:xfrm>
            <a:off x="901303" y="1776458"/>
            <a:ext cx="6114719"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Expected results of the project</a:t>
            </a:r>
          </a:p>
        </p:txBody>
      </p:sp>
      <p:sp>
        <p:nvSpPr>
          <p:cNvPr id="5" name="TextBox 5"/>
          <p:cNvSpPr txBox="1"/>
          <p:nvPr/>
        </p:nvSpPr>
        <p:spPr>
          <a:xfrm>
            <a:off x="901303" y="3927753"/>
            <a:ext cx="3774226"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Benefits to users</a:t>
            </a:r>
          </a:p>
        </p:txBody>
      </p:sp>
      <p:sp>
        <p:nvSpPr>
          <p:cNvPr id="6" name="TextBox 6"/>
          <p:cNvSpPr txBox="1"/>
          <p:nvPr/>
        </p:nvSpPr>
        <p:spPr>
          <a:xfrm>
            <a:off x="901303" y="6213799"/>
            <a:ext cx="4474002"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Real-world impact</a:t>
            </a:r>
          </a:p>
        </p:txBody>
      </p:sp>
      <p:grpSp>
        <p:nvGrpSpPr>
          <p:cNvPr id="7" name="Group 7"/>
          <p:cNvGrpSpPr/>
          <p:nvPr/>
        </p:nvGrpSpPr>
        <p:grpSpPr>
          <a:xfrm>
            <a:off x="1565415" y="1441864"/>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
        <p:nvSpPr>
          <p:cNvPr id="12" name="TextBox 4">
            <a:extLst>
              <a:ext uri="{FF2B5EF4-FFF2-40B4-BE49-F238E27FC236}">
                <a16:creationId xmlns:a16="http://schemas.microsoft.com/office/drawing/2014/main" id="{72FACBE7-F825-45E1-73AB-0E2C26327AAC}"/>
              </a:ext>
            </a:extLst>
          </p:cNvPr>
          <p:cNvSpPr txBox="1"/>
          <p:nvPr/>
        </p:nvSpPr>
        <p:spPr>
          <a:xfrm>
            <a:off x="2476276" y="2428220"/>
            <a:ext cx="6114719" cy="1292662"/>
          </a:xfrm>
          <a:prstGeom prst="rect">
            <a:avLst/>
          </a:prstGeom>
        </p:spPr>
        <p:txBody>
          <a:bodyPr wrap="square" lIns="0" tIns="0" rIns="0" bIns="0" rtlCol="0" anchor="t">
            <a:spAutoFit/>
          </a:bodyPr>
          <a:lstStyle/>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Faster debugging</a:t>
            </a:r>
          </a:p>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Better learning</a:t>
            </a:r>
          </a:p>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Reduced repeated errors</a:t>
            </a:r>
          </a:p>
        </p:txBody>
      </p:sp>
      <p:sp>
        <p:nvSpPr>
          <p:cNvPr id="14" name="TextBox 5">
            <a:extLst>
              <a:ext uri="{FF2B5EF4-FFF2-40B4-BE49-F238E27FC236}">
                <a16:creationId xmlns:a16="http://schemas.microsoft.com/office/drawing/2014/main" id="{55E25C2E-A911-E92F-4943-8D40915DDE11}"/>
              </a:ext>
            </a:extLst>
          </p:cNvPr>
          <p:cNvSpPr txBox="1"/>
          <p:nvPr/>
        </p:nvSpPr>
        <p:spPr>
          <a:xfrm>
            <a:off x="2452267" y="4694740"/>
            <a:ext cx="4137695" cy="1292662"/>
          </a:xfrm>
          <a:prstGeom prst="rect">
            <a:avLst/>
          </a:prstGeom>
        </p:spPr>
        <p:txBody>
          <a:bodyPr wrap="square" lIns="0" tIns="0" rIns="0" bIns="0" rtlCol="0" anchor="t">
            <a:spAutoFit/>
          </a:bodyPr>
          <a:lstStyle/>
          <a:p>
            <a:pPr marL="342900" indent="-34290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Personalized coding help</a:t>
            </a:r>
          </a:p>
          <a:p>
            <a:pPr marL="342900" indent="-34290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Improved confidence</a:t>
            </a:r>
          </a:p>
          <a:p>
            <a:pPr marL="342900" indent="-34290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Efficient learning</a:t>
            </a:r>
          </a:p>
        </p:txBody>
      </p:sp>
      <p:sp>
        <p:nvSpPr>
          <p:cNvPr id="15" name="TextBox 6">
            <a:extLst>
              <a:ext uri="{FF2B5EF4-FFF2-40B4-BE49-F238E27FC236}">
                <a16:creationId xmlns:a16="http://schemas.microsoft.com/office/drawing/2014/main" id="{36CC9D73-A03D-D375-2ABB-6B6976939806}"/>
              </a:ext>
            </a:extLst>
          </p:cNvPr>
          <p:cNvSpPr txBox="1"/>
          <p:nvPr/>
        </p:nvSpPr>
        <p:spPr>
          <a:xfrm>
            <a:off x="2452267" y="6966718"/>
            <a:ext cx="6232169" cy="1292662"/>
          </a:xfrm>
          <a:prstGeom prst="rect">
            <a:avLst/>
          </a:prstGeom>
        </p:spPr>
        <p:txBody>
          <a:bodyPr wrap="square" lIns="0" tIns="0" rIns="0" bIns="0" rtlCol="0" anchor="t">
            <a:spAutoFit/>
          </a:bodyPr>
          <a:lstStyle/>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Helps millions of beginner developers</a:t>
            </a:r>
          </a:p>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Can be integrated into IDEs</a:t>
            </a:r>
          </a:p>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Improves coding education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4503647" y="331023"/>
            <a:ext cx="9836646" cy="892175"/>
          </a:xfrm>
          <a:prstGeom prst="rect">
            <a:avLst/>
          </a:prstGeom>
        </p:spPr>
        <p:txBody>
          <a:bodyPr lIns="0" tIns="0" rIns="0" bIns="0" rtlCol="0" anchor="t">
            <a:spAutoFit/>
          </a:bodyPr>
          <a:lstStyle/>
          <a:p>
            <a:pPr algn="ctr">
              <a:lnSpc>
                <a:spcPts val="7000"/>
              </a:lnSpc>
              <a:spcBef>
                <a:spcPct val="0"/>
              </a:spcBef>
            </a:pPr>
            <a:r>
              <a:rPr lang="en-US" sz="5000" b="1" spc="-400">
                <a:solidFill>
                  <a:srgbClr val="FFFFFF"/>
                </a:solidFill>
                <a:latin typeface="Times New Roman Bold"/>
                <a:ea typeface="Times New Roman Bold"/>
                <a:cs typeface="Times New Roman Bold"/>
                <a:sym typeface="Times New Roman Bold"/>
              </a:rPr>
              <a:t>FUTURE  SCOPE  AND  CONCLUSION</a:t>
            </a:r>
          </a:p>
        </p:txBody>
      </p:sp>
      <p:sp>
        <p:nvSpPr>
          <p:cNvPr id="4" name="TextBox 4"/>
          <p:cNvSpPr txBox="1"/>
          <p:nvPr/>
        </p:nvSpPr>
        <p:spPr>
          <a:xfrm>
            <a:off x="901303" y="1873544"/>
            <a:ext cx="5397822"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Future improvements</a:t>
            </a:r>
          </a:p>
        </p:txBody>
      </p:sp>
      <p:sp>
        <p:nvSpPr>
          <p:cNvPr id="5" name="TextBox 5"/>
          <p:cNvSpPr txBox="1"/>
          <p:nvPr/>
        </p:nvSpPr>
        <p:spPr>
          <a:xfrm>
            <a:off x="901302" y="6440910"/>
            <a:ext cx="6515497"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Scalability of the project</a:t>
            </a:r>
          </a:p>
        </p:txBody>
      </p:sp>
      <p:sp>
        <p:nvSpPr>
          <p:cNvPr id="6" name="TextBox 6"/>
          <p:cNvSpPr txBox="1"/>
          <p:nvPr/>
        </p:nvSpPr>
        <p:spPr>
          <a:xfrm>
            <a:off x="914282" y="4592016"/>
            <a:ext cx="3701177" cy="563809"/>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3399" b="1" spc="-271" dirty="0">
                <a:solidFill>
                  <a:srgbClr val="FFFFFF"/>
                </a:solidFill>
                <a:latin typeface="Times New Roman Bold"/>
                <a:ea typeface="Times New Roman Bold"/>
                <a:cs typeface="Times New Roman Bold"/>
                <a:sym typeface="Times New Roman Bold"/>
              </a:rPr>
              <a:t>Final summary</a:t>
            </a:r>
          </a:p>
        </p:txBody>
      </p:sp>
      <p:grpSp>
        <p:nvGrpSpPr>
          <p:cNvPr id="7" name="Group 7"/>
          <p:cNvGrpSpPr/>
          <p:nvPr/>
        </p:nvGrpSpPr>
        <p:grpSpPr>
          <a:xfrm>
            <a:off x="1136043" y="1423973"/>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
        <p:nvSpPr>
          <p:cNvPr id="12" name="TextBox 4">
            <a:extLst>
              <a:ext uri="{FF2B5EF4-FFF2-40B4-BE49-F238E27FC236}">
                <a16:creationId xmlns:a16="http://schemas.microsoft.com/office/drawing/2014/main" id="{040AC85F-0D9B-12F1-631B-CF9CD3363789}"/>
              </a:ext>
            </a:extLst>
          </p:cNvPr>
          <p:cNvSpPr txBox="1"/>
          <p:nvPr/>
        </p:nvSpPr>
        <p:spPr>
          <a:xfrm>
            <a:off x="1699083" y="2562698"/>
            <a:ext cx="5397822" cy="1723549"/>
          </a:xfrm>
          <a:prstGeom prst="rect">
            <a:avLst/>
          </a:prstGeom>
        </p:spPr>
        <p:txBody>
          <a:bodyPr wrap="square" lIns="0" tIns="0" rIns="0" bIns="0" rtlCol="0" anchor="t">
            <a:spAutoFit/>
          </a:bodyPr>
          <a:lstStyle/>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Multi-language support</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IDE plugin (VS Code extension)</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Bookmark &amp; Revisit Mistakes</a:t>
            </a:r>
          </a:p>
          <a:p>
            <a:pPr marL="514350" indent="-514350">
              <a:buFont typeface="+mj-lt"/>
              <a:buAutoNum type="arabicPeriod"/>
            </a:pPr>
            <a:r>
              <a:rPr lang="en-IN" sz="2800" dirty="0">
                <a:solidFill>
                  <a:schemeClr val="bg1"/>
                </a:solidFill>
                <a:latin typeface="Times New Roman" panose="02020603050405020304" pitchFamily="18" charset="0"/>
                <a:cs typeface="Times New Roman" panose="02020603050405020304" pitchFamily="18" charset="0"/>
              </a:rPr>
              <a:t>Team collaboration features</a:t>
            </a:r>
          </a:p>
        </p:txBody>
      </p:sp>
      <p:sp>
        <p:nvSpPr>
          <p:cNvPr id="14" name="TextBox 6">
            <a:extLst>
              <a:ext uri="{FF2B5EF4-FFF2-40B4-BE49-F238E27FC236}">
                <a16:creationId xmlns:a16="http://schemas.microsoft.com/office/drawing/2014/main" id="{4596B8F9-5F1B-13E4-0F35-001721AB04C2}"/>
              </a:ext>
            </a:extLst>
          </p:cNvPr>
          <p:cNvSpPr txBox="1"/>
          <p:nvPr/>
        </p:nvSpPr>
        <p:spPr>
          <a:xfrm>
            <a:off x="1412240" y="5298437"/>
            <a:ext cx="12350320" cy="545790"/>
          </a:xfrm>
          <a:prstGeom prst="rect">
            <a:avLst/>
          </a:prstGeom>
        </p:spPr>
        <p:txBody>
          <a:bodyPr wrap="square" lIns="0" tIns="0" rIns="0" bIns="0" rtlCol="0" anchor="t">
            <a:spAutoFit/>
          </a:bodyPr>
          <a:lstStyle/>
          <a:p>
            <a:pPr marL="367028" lvl="1">
              <a:lnSpc>
                <a:spcPts val="4759"/>
              </a:lnSpc>
              <a:spcBef>
                <a:spcPct val="0"/>
              </a:spcBef>
            </a:pPr>
            <a:r>
              <a:rPr lang="en-US" sz="2800" dirty="0" err="1">
                <a:solidFill>
                  <a:schemeClr val="bg1"/>
                </a:solidFill>
                <a:latin typeface="Times New Roman" panose="02020603050405020304" pitchFamily="18" charset="0"/>
                <a:cs typeface="Times New Roman" panose="02020603050405020304" pitchFamily="18" charset="0"/>
              </a:rPr>
              <a:t>CodeMind</a:t>
            </a:r>
            <a:r>
              <a:rPr lang="en-US" sz="2800" dirty="0">
                <a:solidFill>
                  <a:schemeClr val="bg1"/>
                </a:solidFill>
                <a:latin typeface="Times New Roman" panose="02020603050405020304" pitchFamily="18" charset="0"/>
                <a:cs typeface="Times New Roman" panose="02020603050405020304" pitchFamily="18" charset="0"/>
              </a:rPr>
              <a:t> transforms debugging from a </a:t>
            </a:r>
            <a:r>
              <a:rPr lang="en-US" sz="2800" b="1" dirty="0">
                <a:solidFill>
                  <a:schemeClr val="bg1"/>
                </a:solidFill>
                <a:latin typeface="Times New Roman" panose="02020603050405020304" pitchFamily="18" charset="0"/>
                <a:cs typeface="Times New Roman" panose="02020603050405020304" pitchFamily="18" charset="0"/>
              </a:rPr>
              <a:t>fixing process into a learning system</a:t>
            </a:r>
            <a:endPar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15" name="TextBox 5">
            <a:extLst>
              <a:ext uri="{FF2B5EF4-FFF2-40B4-BE49-F238E27FC236}">
                <a16:creationId xmlns:a16="http://schemas.microsoft.com/office/drawing/2014/main" id="{A5E375B0-2379-A486-49A7-B64D870691EF}"/>
              </a:ext>
            </a:extLst>
          </p:cNvPr>
          <p:cNvSpPr txBox="1"/>
          <p:nvPr/>
        </p:nvSpPr>
        <p:spPr>
          <a:xfrm>
            <a:off x="1699083" y="7273845"/>
            <a:ext cx="6515497" cy="1292662"/>
          </a:xfrm>
          <a:prstGeom prst="rect">
            <a:avLst/>
          </a:prstGeom>
        </p:spPr>
        <p:txBody>
          <a:bodyPr wrap="square" lIns="0" tIns="0" rIns="0" bIns="0" rtlCol="0" anchor="t">
            <a:spAutoFit/>
          </a:bodyPr>
          <a:lstStyle/>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Cloud-based architecture</a:t>
            </a:r>
          </a:p>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Can scale to millions of users</a:t>
            </a:r>
          </a:p>
          <a:p>
            <a:pPr marL="514350" indent="-514350">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Extendable to enterprise developer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621</Words>
  <Application>Microsoft Office PowerPoint</Application>
  <PresentationFormat>Custom</PresentationFormat>
  <Paragraphs>129</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Courier New</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 -</dc:creator>
  <cp:lastModifiedBy>Yathartha Rastogi</cp:lastModifiedBy>
  <cp:revision>24</cp:revision>
  <dcterms:modified xsi:type="dcterms:W3CDTF">2026-04-03T09:07:00Z</dcterms:modified>
</cp:coreProperties>
</file>